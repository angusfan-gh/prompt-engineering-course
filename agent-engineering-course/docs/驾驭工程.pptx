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0"/>
            <a:ext cx="9144000" cy="148590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驾驭工程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Engineering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 架构、设计与实现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面向软件学院本科生/研究生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课程大纲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核心概念定义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AI Agent 架构与实现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多步骤任务编排与工具调用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输出质量控制与验证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实际代码案例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教学场景化案例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什么是驾驭工程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347472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驾驭工程定义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设计、构建和管理AI Agent的系统性方法，使AI系统能够自主理解目标、规划和执行多步骤任务、调用外部工具，并在复杂环境中做出合理决策。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73152" cy="3474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325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核心框架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120640" y="182880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1828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用户目标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0760" y="2331720"/>
            <a:ext cx="91440" cy="1828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0" y="251460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2514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Core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80760" y="3017520"/>
            <a:ext cx="91440" cy="1828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120640" y="320040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3200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80760" y="3703320"/>
            <a:ext cx="91440" cy="1828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0" y="388620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3886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反馈循环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核心要素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45720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将复杂任务分解为可执行的子任务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188720"/>
            <a:ext cx="2651760" cy="45720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188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91840" y="1691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20574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存储历史交互、知识和中间状态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88720"/>
            <a:ext cx="2651760" cy="45720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188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26480" y="1691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20574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调用外部API、函数或服务的能力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017520"/>
            <a:ext cx="2651760" cy="45720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017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推理引擎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3520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8862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ReAct、CoT 等推理模式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301752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3017520"/>
            <a:ext cx="2651760" cy="45720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0" y="3017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执行器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291840" y="3520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Executor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83280" y="38862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协调任务执行、处理异常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301752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3017520"/>
            <a:ext cx="2651760" cy="45720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3017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验证器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126480" y="3520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Validator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17920" y="38862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检验输出质量、确保符合预期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vs 传统程序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传统程序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188720" cy="640080"/>
          </a:xfrm>
          <a:prstGeom prst="roundRect">
            <a:avLst>
              <a:gd name="adj" fmla="val 7143"/>
            </a:avLst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用户输入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83080" y="173736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FF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011680" y="1737360"/>
            <a:ext cx="1188720" cy="640080"/>
          </a:xfrm>
          <a:prstGeom prst="roundRect">
            <a:avLst>
              <a:gd name="adj" fmla="val 7143"/>
            </a:avLst>
          </a:prstGeom>
          <a:solidFill>
            <a:srgbClr val="64748B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0" y="17373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固定规则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54680" y="173736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FF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83280" y="1737360"/>
            <a:ext cx="1188720" cy="640080"/>
          </a:xfrm>
          <a:prstGeom prst="roundRect">
            <a:avLst>
              <a:gd name="adj" fmla="val 7143"/>
            </a:avLst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7373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确定性输出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560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输入确定 → 规则固定 → 输出确定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937760" y="1737360"/>
            <a:ext cx="1097280" cy="548640"/>
          </a:xfrm>
          <a:prstGeom prst="roundRect">
            <a:avLst>
              <a:gd name="adj" fmla="val 8333"/>
            </a:avLst>
          </a:prstGeom>
          <a:solidFill>
            <a:srgbClr val="4472C4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737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理解意图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89320" y="173736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1737360"/>
            <a:ext cx="1097280" cy="548640"/>
          </a:xfrm>
          <a:prstGeom prst="roundRect">
            <a:avLst>
              <a:gd name="adj" fmla="val 8333"/>
            </a:avLst>
          </a:prstGeom>
          <a:solidFill>
            <a:srgbClr val="4472C4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1737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规划步骤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23760" y="173736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406640" y="1737360"/>
            <a:ext cx="1097280" cy="548640"/>
          </a:xfrm>
          <a:prstGeom prst="roundRect">
            <a:avLst>
              <a:gd name="adj" fmla="val 8333"/>
            </a:avLst>
          </a:prstGeom>
          <a:solidFill>
            <a:srgbClr val="4472C4"/>
          </a:solidFill>
          <a:ln/>
        </p:spPr>
      </p:sp>
      <p:sp>
        <p:nvSpPr>
          <p:cNvPr id="23" name="Text 21"/>
          <p:cNvSpPr/>
          <p:nvPr/>
        </p:nvSpPr>
        <p:spPr>
          <a:xfrm>
            <a:off x="7406640" y="1737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工具执行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2468880"/>
            <a:ext cx="1097280" cy="548640"/>
          </a:xfrm>
          <a:prstGeom prst="roundRect">
            <a:avLst>
              <a:gd name="adj" fmla="val 8333"/>
            </a:avLst>
          </a:prstGeom>
          <a:solidFill>
            <a:srgbClr val="4472C4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24688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观察结果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89320" y="246888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72200" y="2468880"/>
            <a:ext cx="1097280" cy="548640"/>
          </a:xfrm>
          <a:prstGeom prst="roundRect">
            <a:avLst>
              <a:gd name="adj" fmla="val 8333"/>
            </a:avLst>
          </a:prstGeom>
          <a:solidFill>
            <a:srgbClr val="4472C4"/>
          </a:solidFill>
          <a:ln/>
        </p:spPr>
      </p:sp>
      <p:sp>
        <p:nvSpPr>
          <p:cNvPr id="28" name="Text 26"/>
          <p:cNvSpPr/>
          <p:nvPr/>
        </p:nvSpPr>
        <p:spPr>
          <a:xfrm>
            <a:off x="6172200" y="24688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反思调整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3291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目标驱动 → 动态决策 → 自适应输出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solidFill>
            <a:srgbClr val="2A3A7A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核心区别：传统程序是确定性的规则匹配，Agent 是目标驱动的动态推理与执行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模式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0" y="228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+ Acting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4472C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 Think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60320" y="21031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93B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0" y="21031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00D4FF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 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21031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93B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0" y="21031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 Observe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0" y="21031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93B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15200" y="21031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64748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思考...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595360" y="2377440"/>
            <a:ext cx="91440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92608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063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关键优势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347472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推理过程透明可见 — 每一步都有思考记录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能够处理多步骤复杂任务 — 通过循环迭代逐步求解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可以根据观察结果调整后续行动 — 动态适应环境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适用于动态环境、交互式任务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Plan-and-Execute 模式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50292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规划阶段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分析任务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生成执行计划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依赖关系分析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优先级排序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3931920" cy="5029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188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执行阶段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182880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按计划逐步执行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验证每步结果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动态调整路径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异常处理与回退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0" y="20116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229600" cy="128016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94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适用场景：复杂但可预测的任务 — 需要提前规划的长流程工作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优点：计划可控、易于调试  |  缺点：缺乏灵活性，计划可能过时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架构对比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560320"/>
        </p:xfrm>
        <a:graphic>
          <a:graphicData uri="http://schemas.openxmlformats.org/drawingml/2006/table">
            <a:tbl>
              <a:tblPr/>
              <a:tblGrid>
                <a:gridCol w="2011680"/>
                <a:gridCol w="2286000"/>
                <a:gridCol w="2011680"/>
                <a:gridCol w="19202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适用场景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ReAct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动态环境、交互式任务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灵活、可自适应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计算开销大、循环次数不固定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Plan-and-Execute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复杂但可预测任务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计划可控、易于调试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缺乏灵活性、计划可能过时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混合模式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复杂综合任务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结合两者优点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实现复杂度高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任务图 (Task Graph)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029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258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DAG 有向无环图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1920240"/>
            <a:ext cx="640080" cy="6400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0" y="1920240"/>
            <a:ext cx="640080" cy="6400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920240"/>
            <a:ext cx="640080" cy="6400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0" y="3200400"/>
            <a:ext cx="640080" cy="6400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0" y="3200400"/>
            <a:ext cx="640080" cy="6400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234440" y="2560320"/>
            <a:ext cx="914400" cy="64008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63240" y="2560320"/>
            <a:ext cx="-914400" cy="64008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92040" y="2560320"/>
            <a:ext cx="-914400" cy="64008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48840" y="3840480"/>
            <a:ext cx="1828800" cy="-64008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0" y="1188720"/>
            <a:ext cx="30175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52160" y="1325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852160" y="1737360"/>
            <a:ext cx="2651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任务依赖管理</a:t>
            </a:r>
            <a:endParaRPr lang="en-US" sz="12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定义任务间先后关系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并行/串行执行</a:t>
            </a:r>
            <a:endParaRPr lang="en-US" sz="12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独立任务并行调度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执行结果传递</a:t>
            </a:r>
            <a:endParaRPr lang="en-US" sz="12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下游任务使用上游结果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工具调用系统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 = 扩展 Agent 能力边界的桥梁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286000"/>
            <a:ext cx="1920240" cy="41148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 定义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名称、描述、参数 schema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31720" y="27432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651760" y="228600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51760" y="2286000"/>
            <a:ext cx="1920240" cy="4114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 注册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27889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ToolRegistry 管理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26280" y="27432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46320" y="228600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286000"/>
            <a:ext cx="1920240" cy="41148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 调用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27889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解析参数、执行逻辑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20840" y="27432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040880" y="228600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40880" y="2286000"/>
            <a:ext cx="1920240" cy="4114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结果返回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32320" y="27889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ToolResult 封装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示例工具：calculator | web_search | read_file | write_file | 数据库查询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输出质量控制与验证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146304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72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JSONFormatValidator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 JSON 格式与必需键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188720"/>
            <a:ext cx="73152" cy="146304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325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72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LengthValidator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1828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字数长度范围检查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188720"/>
            <a:ext cx="73152" cy="146304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325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72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KeywordValidator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1828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关键词存在性检查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26080"/>
            <a:ext cx="73152" cy="146304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063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72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RegexValidator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566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正则表达式匹配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91840" y="292608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2926080"/>
            <a:ext cx="73152" cy="146304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3063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72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LLM-Assisted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74720" y="3566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辅助语义验证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0" y="2926080"/>
            <a:ext cx="2743200" cy="146304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2648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ValidationChain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26480" y="34747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支持组合多个验证器，链式调用，任何一个失败即返回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教学场景案例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Scenarios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2560320"/>
          </a:xfrm>
          <a:prstGeom prst="rect">
            <a:avLst/>
          </a:prstGeom>
          <a:solidFill>
            <a:srgbClr val="2A3A7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651760" cy="50292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智能客服 Agent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意图识别、情感分析、多轮对话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651760" cy="2560320"/>
          </a:xfrm>
          <a:prstGeom prst="rect">
            <a:avLst/>
          </a:prstGeom>
          <a:solidFill>
            <a:srgbClr val="2A3A7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371600"/>
            <a:ext cx="2651760" cy="5029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371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数据处理流水线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20116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ETL、验证、自动报告生成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51760" cy="2560320"/>
          </a:xfrm>
          <a:prstGeom prst="rect">
            <a:avLst/>
          </a:prstGeom>
          <a:solidFill>
            <a:srgbClr val="2A3A7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371600"/>
            <a:ext cx="2651760" cy="502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371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研究助手 Agent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17920" y="20116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文献搜索、自动笔记、大纲生成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适合软件学院数据结构、算法、软件工程等课程的教学案例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代码示例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25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Agent 循环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not done: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thought = llm.think(context)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action = parse_action(thought)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 = tool.execute(action)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context += result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325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工具装饰器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@tool_registry.register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calculator(expr: str):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"""执行数学计算"""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eval(expression)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最佳实践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推荐做法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 Agent 的职责边界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工具描述要精确完整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验证每步输出再继续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记录完整执行轨迹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优雅处理工具调用失败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避免做法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78308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职责过于宽泛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工具参数描述模糊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跳过验证直接信任输出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无限循环无退出机制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忽略异常处理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solidFill>
            <a:srgbClr val="2A3A7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驾驭工程是构建复杂 AI 应用的核心能力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和 Plan-and-Execute 是两种主流 Agent 架构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任务图实现多步骤编排，工具扩展 Agent 能力边界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输出验证是确保 Agent 质量的关键环节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实际案例帮助学生掌握从理论到实践的完整路径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下一步：学习 Context Engineering 和 Prompt Engineering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问答环节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0" y="4114800"/>
            <a:ext cx="1828800" cy="73152"/>
          </a:xfrm>
          <a:prstGeom prst="rect">
            <a:avLst/>
          </a:prstGeom>
          <a:solidFill>
            <a:srgbClr val="00D4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驾驭工程 Agent Engineering</dc:title>
  <dc:subject>PptxGenJS Presentation</dc:subject>
  <dc:creator>AI Course</dc:creator>
  <cp:lastModifiedBy>AI Course</cp:lastModifiedBy>
  <cp:revision>1</cp:revision>
  <dcterms:created xsi:type="dcterms:W3CDTF">2026-05-11T00:14:16Z</dcterms:created>
  <dcterms:modified xsi:type="dcterms:W3CDTF">2026-05-11T00:14:16Z</dcterms:modified>
</cp:coreProperties>
</file>