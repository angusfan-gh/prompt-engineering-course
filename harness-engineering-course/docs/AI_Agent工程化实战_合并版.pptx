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1.png"/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4.png"/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3.png"/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6.png"/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1.png"/><Relationship Id="rId3" Type="http://schemas.openxmlformats.org/officeDocument/2006/relationships/image" Target="../media/image24.png"/><Relationship Id="rId2" Type="http://schemas.openxmlformats.org/officeDocument/2006/relationships/image" Target="../media/image16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5.png"/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744">
              <a:alpha val="6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77240"/>
          </a:xfrm>
          <a:prstGeom prst="rect">
            <a:avLst/>
          </a:prstGeom>
          <a:solidFill>
            <a:srgbClr val="00D4FF">
              <a:alpha val="1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097280"/>
            <a:ext cx="64008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Agent 工程化实战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2468880"/>
            <a:ext cx="6400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D4FF"/>
                </a:solidFill>
              </a:rPr>
              <a:t>从 Harness Engineering 到生产级实现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320040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Harness Engineering · Agent 架构 · 工具协议 · 生产部署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749040"/>
            <a:ext cx="1828800" cy="457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0" name="Text 7"/>
          <p:cNvSpPr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天津大学 · AI Agent 工程化实践课程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课程目录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0" y="1828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D4FF"/>
                </a:solidFill>
              </a:rPr>
              <a:t>Course Outline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97480" cy="178308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73152" cy="178308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8" name="Text 6"/>
          <p:cNvSpPr/>
          <p:nvPr/>
        </p:nvSpPr>
        <p:spPr>
          <a:xfrm>
            <a:off x="640080" y="109728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Harness Engineering 基础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定义 · 四大护栏 · 三大失败模式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697480" cy="178308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05840"/>
            <a:ext cx="73152" cy="178308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3" name="Text 11"/>
          <p:cNvSpPr/>
          <p:nvPr/>
        </p:nvSpPr>
        <p:spPr>
          <a:xfrm>
            <a:off x="3474720" y="109728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FF"/>
                </a:solidFill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474720" y="16459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 核心架构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210312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LLM + Tools + Planning + Memory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697480" cy="178308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05840"/>
            <a:ext cx="73152" cy="178308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8" name="Text 16"/>
          <p:cNvSpPr/>
          <p:nvPr/>
        </p:nvSpPr>
        <p:spPr>
          <a:xfrm>
            <a:off x="6309360" y="109728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C3AED"/>
                </a:solidFill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309360" y="16459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 工程化实践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210312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Tool Calling · 错误处理 · 多 Agent 协作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2697480" cy="178308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971800"/>
            <a:ext cx="73152" cy="178308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3" name="Text 21"/>
          <p:cNvSpPr/>
          <p:nvPr/>
        </p:nvSpPr>
        <p:spPr>
          <a:xfrm>
            <a:off x="640080" y="306324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B981"/>
                </a:solidFill>
              </a:rPr>
              <a:t>04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40080" y="36118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生产级部署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06908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安全 · 限流 · 监控 · 架构图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2971800"/>
            <a:ext cx="2697480" cy="178308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0" y="2971800"/>
            <a:ext cx="73152" cy="178308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28" name="Text 26"/>
          <p:cNvSpPr/>
          <p:nvPr/>
        </p:nvSpPr>
        <p:spPr>
          <a:xfrm>
            <a:off x="3474720" y="306324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7316"/>
                </a:solidFill>
              </a:rPr>
              <a:t>05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3474720" y="361188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四大护栏实战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74720" y="406908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Context Engineering · 反馈循环 · 熵管理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什么是 Harness Engineering？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463040"/>
          </a:xfrm>
          <a:prstGeom prst="rect">
            <a:avLst/>
          </a:prstGeom>
          <a:solidFill>
            <a:srgbClr val="1A2744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00D4FF"/>
                </a:solidFill>
              </a:rPr>
              <a:t>"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5895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8F0"/>
                </a:solidFill>
              </a:rPr>
              <a:t>Harness Engineering is the idea that anytime you find an agent makes a mistake, you take the time to engineer a harness — a feedback loop — that catches that mistake before it compounds.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22402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</a:rPr>
              <a:t>— Mitchell Hashimoto, 2026.2.5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6974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265176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</a:rPr>
              <a:t>Agent 犯错 → 不是模型问题，是系统设计问题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461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32004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</a:rPr>
              <a:t>通过反馈循环（harness）纠正错误，而非让错误累积</a:t>
            </a:r>
            <a:endParaRPr lang="en-US" sz="1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9476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37490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</a:rPr>
              <a:t>每次修正都是一次系统进化机会——知识沉淀为规则/文档</a:t>
            </a:r>
            <a:endParaRPr lang="en-US" sz="14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4340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4400" y="429768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</a:rPr>
              <a:t>约束不是限制自由，而是提高自主性的基础设施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为什么需要 Harness Engineering？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828800"/>
          </a:xfrm>
          <a:prstGeom prst="rect">
            <a:avLst/>
          </a:prstGeom>
          <a:solidFill>
            <a:srgbClr val="1A2744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18872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</a:rPr>
              <a:t>OpenAI 5 个月产出：100 万行代码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80160" y="16459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代码行数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971800"/>
            <a:ext cx="8412480" cy="54864"/>
          </a:xfrm>
          <a:prstGeom prst="rect">
            <a:avLst/>
          </a:prstGeom>
          <a:solidFill>
            <a:srgbClr val="00D4FF">
              <a:alpha val="50000"/>
            </a:srgbClr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315468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</a:rPr>
              <a:t>AI 产出代码量远超人类审查能力 → 必须用系统约束替代人工 Review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7947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" y="374904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</a:rPr>
              <a:t>Agent 的每次错误都会级联放大 → 必须有自动化的 harness 机制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8912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68680" y="434340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</a:rPr>
              <a:t>自主性越高 → 失控风险越大 → 需要更严格的护栏（harness）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工程范式的三次跃迁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384048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743200" cy="64008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7" name="Shape 5"/>
          <p:cNvSpPr/>
          <p:nvPr/>
        </p:nvSpPr>
        <p:spPr>
          <a:xfrm>
            <a:off x="365760" y="1618488"/>
            <a:ext cx="2743200" cy="36576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8" name="Text 6"/>
          <p:cNvSpPr/>
          <p:nvPr/>
        </p:nvSpPr>
        <p:spPr>
          <a:xfrm>
            <a:off x="365760" y="10241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</a:rPr>
              <a:t>2023–2024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Prompt Engineering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6916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提示词工程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237744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优化对象：Prompt 措辞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代表：Chain-of-Thought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局限：单次交互，无记忆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36576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FF"/>
                </a:solidFill>
              </a:rPr>
              <a:t>→</a:t>
            </a:r>
            <a:endParaRPr lang="en-US" sz="28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2377440"/>
            <a:ext cx="365760" cy="36576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246120" y="1005840"/>
            <a:ext cx="2743200" cy="384048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46120" y="1005840"/>
            <a:ext cx="2743200" cy="64008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6" name="Shape 13"/>
          <p:cNvSpPr/>
          <p:nvPr/>
        </p:nvSpPr>
        <p:spPr>
          <a:xfrm>
            <a:off x="3246120" y="1618488"/>
            <a:ext cx="2743200" cy="36576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7" name="Text 14"/>
          <p:cNvSpPr/>
          <p:nvPr/>
        </p:nvSpPr>
        <p:spPr>
          <a:xfrm>
            <a:off x="3246120" y="10241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</a:rPr>
              <a:t>2024–2025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46120" y="12801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RAG + Tool Calling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246120" y="16916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检索增强生成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429000" y="2057400"/>
            <a:ext cx="237744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优化对象：知识检索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代表：向量数据库 RAG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进步：引入外部知识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343400" y="36576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FF"/>
                </a:solidFill>
              </a:rPr>
              <a:t>→</a:t>
            </a:r>
            <a:endParaRPr lang="en-US" sz="28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2377440"/>
            <a:ext cx="365760" cy="36576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126480" y="1005840"/>
            <a:ext cx="2743200" cy="384048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126480" y="1005840"/>
            <a:ext cx="2743200" cy="64008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25" name="Shape 21"/>
          <p:cNvSpPr/>
          <p:nvPr/>
        </p:nvSpPr>
        <p:spPr>
          <a:xfrm>
            <a:off x="6126480" y="1618488"/>
            <a:ext cx="2743200" cy="36576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26" name="Text 22"/>
          <p:cNvSpPr/>
          <p:nvPr/>
        </p:nvSpPr>
        <p:spPr>
          <a:xfrm>
            <a:off x="6126480" y="10241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0E1A"/>
                </a:solidFill>
              </a:rPr>
              <a:t>2025–2026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126480" y="12801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</a:rPr>
              <a:t>Harness Engineering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6126480" y="16916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驾驭工程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6309360" y="2057400"/>
            <a:ext cx="237744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优化对象：系统鲁棒性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代表：四大护栏体系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核心：错误即反馈，自动化纠正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7223760" y="36576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FF"/>
                </a:solidFill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三大失败模式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0" y="1828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D4FF"/>
                </a:solidFill>
              </a:rPr>
              <a:t>Anthropic · 2025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743200" cy="384048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2743200" cy="73152"/>
          </a:xfrm>
          <a:prstGeom prst="rect">
            <a:avLst/>
          </a:prstGeom>
          <a:solidFill>
            <a:srgbClr val="F59E0B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18872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192024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One-shotting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65760" y="22860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试图一步到位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651760"/>
            <a:ext cx="2377440" cy="36576"/>
          </a:xfrm>
          <a:prstGeom prst="rect">
            <a:avLst/>
          </a:prstGeom>
          <a:solidFill>
            <a:srgbClr val="64748B">
              <a:alpha val="40000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502920" y="2743200"/>
            <a:ext cx="246888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在一个会话里把所有功能都做完。上下文窗口耗尽，留下没有文档的半成品代码，下一个会话只能猜测之前发生了什么。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46120" y="1005840"/>
            <a:ext cx="2743200" cy="384048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46120" y="1005840"/>
            <a:ext cx="2743200" cy="73152"/>
          </a:xfrm>
          <a:prstGeom prst="rect">
            <a:avLst/>
          </a:prstGeom>
          <a:solidFill>
            <a:srgbClr val="F97316"/>
          </a:solidFill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18872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46120" y="192024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</a:rPr>
              <a:t>Premature Victory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246120" y="22860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过早宣布胜利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429000" y="2651760"/>
            <a:ext cx="2377440" cy="36576"/>
          </a:xfrm>
          <a:prstGeom prst="rect">
            <a:avLst/>
          </a:prstGeom>
          <a:solidFill>
            <a:srgbClr val="64748B">
              <a:alpha val="40000"/>
            </a:srgbClr>
          </a:solidFill>
        </p:spPr>
      </p:sp>
      <p:sp>
        <p:nvSpPr>
          <p:cNvPr id="19" name="Text 15"/>
          <p:cNvSpPr/>
          <p:nvPr/>
        </p:nvSpPr>
        <p:spPr>
          <a:xfrm>
            <a:off x="3383280" y="2743200"/>
            <a:ext cx="246888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部分功能完成后，Agent 认为任务完成，但实际还有 bug、边界 case 未处理。缺乏独立的验证机制。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126480" y="1005840"/>
            <a:ext cx="2743200" cy="384048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26480" y="1005840"/>
            <a:ext cx="2743200" cy="73152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188720"/>
            <a:ext cx="640080" cy="6400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26480" y="192024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</a:rPr>
              <a:t>Premature Done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126480" y="22860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过早宣布完成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309360" y="2651760"/>
            <a:ext cx="2377440" cy="36576"/>
          </a:xfrm>
          <a:prstGeom prst="rect">
            <a:avLst/>
          </a:prstGeom>
          <a:solidFill>
            <a:srgbClr val="64748B">
              <a:alpha val="40000"/>
            </a:srgbClr>
          </a:solidFill>
        </p:spPr>
      </p:sp>
      <p:sp>
        <p:nvSpPr>
          <p:cNvPr id="26" name="Text 21"/>
          <p:cNvSpPr/>
          <p:nvPr/>
        </p:nvSpPr>
        <p:spPr>
          <a:xfrm>
            <a:off x="6263640" y="2743200"/>
            <a:ext cx="246888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Agent 自我评估「已经完成」，但实际遗漏了关键测试、安全检查或文档。没有外部 harness 验证结果质量。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驾驭工程四大护栏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0" y="1828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D4FF"/>
                </a:solidFill>
              </a:rPr>
              <a:t>Four Core Harnesses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114800" cy="192024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73152" cy="1920240"/>
          </a:xfrm>
          <a:prstGeom prst="rect">
            <a:avLst/>
          </a:prstGeom>
          <a:solidFill>
            <a:srgbClr val="00D4FF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23444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</a:rPr>
              <a:t>Context Engineering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1920240"/>
            <a:ext cx="3657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活文档 · 按需检索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AGENTS.md / CLAUDE.md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FTS5 向量混合检索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960120"/>
            <a:ext cx="4114800" cy="192024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960120"/>
            <a:ext cx="73152" cy="1920240"/>
          </a:xfrm>
          <a:prstGeom prst="rect">
            <a:avLst/>
          </a:prstGeom>
          <a:solidFill>
            <a:srgbClr val="10B981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88720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123444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</a:rPr>
              <a:t>Architecture Constraints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892040" y="1920240"/>
            <a:ext cx="3657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Linter 规则强制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分层依赖模型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防止熵增腐化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65760" y="3017520"/>
            <a:ext cx="4114800" cy="192024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3017520"/>
            <a:ext cx="73152" cy="1920240"/>
          </a:xfrm>
          <a:prstGeom prst="rect">
            <a:avLst/>
          </a:prstGeom>
          <a:solidFill>
            <a:srgbClr val="7C3AED"/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46120"/>
            <a:ext cx="594360" cy="5943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329184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</a:rPr>
              <a:t>Feedback Loop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594360" y="3977640"/>
            <a:ext cx="3657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Agent-to-Agent 互审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Codex 写 → Codex 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循环直到通过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63440" y="3017520"/>
            <a:ext cx="4114800" cy="192024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63440" y="3017520"/>
            <a:ext cx="73152" cy="1920240"/>
          </a:xfrm>
          <a:prstGeom prst="rect">
            <a:avLst/>
          </a:prstGeom>
          <a:solidFill>
            <a:srgbClr val="F97316"/>
          </a:solidFill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246120"/>
            <a:ext cx="594360" cy="5943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23560" y="329184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</a:rPr>
              <a:t>Entropy Management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4892040" y="3977640"/>
            <a:ext cx="3657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定期小额偿还技术债务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持续清理过时文档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提交 PR 保持活力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F59E0B">
              <a:alpha val="12000"/>
            </a:srgbClr>
          </a:solidFill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64515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68680" y="461772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</a:rPr>
              <a:t>核心原则：为了获得更高的 AI 自主性，运行时必须受到更严格的约束。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0A0E1A"/>
                </a:solidFill>
              </a:rPr>
              <a:t>PART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核心架构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2743200" cy="54864"/>
          </a:xfrm>
          <a:prstGeom prst="rect">
            <a:avLst/>
          </a:prstGeom>
          <a:solidFill>
            <a:srgbClr val="0A0E1A"/>
          </a:solidFill>
        </p:spPr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A0E1A"/>
                </a:solidFill>
              </a:rPr>
              <a:t>LLM · Tools · Planning · Memory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重新理解 Agent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solidFill>
            <a:srgbClr val="1A2744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D4FF"/>
                </a:solidFill>
              </a:rPr>
              <a:t>Agent = LLM（大脑） + Tools（手足） + Planning（决策） + Memory（记忆）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057400" cy="219456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20240"/>
            <a:ext cx="2057400" cy="73152"/>
          </a:xfrm>
          <a:prstGeom prst="rect">
            <a:avLst/>
          </a:prstGeom>
          <a:solidFill>
            <a:srgbClr val="00D4FF"/>
          </a:solidFill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10312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278892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FF"/>
                </a:solidFill>
              </a:rPr>
              <a:t>LLM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3200400"/>
            <a:ext cx="1874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</a:rPr>
              <a:t>理解意图、生成回复、决策下一步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542032" y="1920240"/>
            <a:ext cx="2057400" cy="219456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42032" y="1920240"/>
            <a:ext cx="2057400" cy="73152"/>
          </a:xfrm>
          <a:prstGeom prst="rect">
            <a:avLst/>
          </a:prstGeom>
          <a:solidFill>
            <a:srgbClr val="10B981"/>
          </a:solidFill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264" y="210312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42032" y="278892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</a:rPr>
              <a:t>Tools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633472" y="3200400"/>
            <a:ext cx="1874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</a:rPr>
              <a:t>搜索、计算、API调用、文件操作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718304" y="1920240"/>
            <a:ext cx="2057400" cy="219456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18304" y="1920240"/>
            <a:ext cx="2057400" cy="73152"/>
          </a:xfrm>
          <a:prstGeom prst="rect">
            <a:avLst/>
          </a:prstGeom>
          <a:solidFill>
            <a:srgbClr val="7C3AED"/>
          </a:solidFill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536" y="210312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18304" y="278892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</a:rPr>
              <a:t>Planning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4809744" y="3200400"/>
            <a:ext cx="1874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</a:rPr>
              <a:t>ReAct、CoT、任务分解、执行调度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894576" y="1920240"/>
            <a:ext cx="2057400" cy="219456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94576" y="1920240"/>
            <a:ext cx="2057400" cy="73152"/>
          </a:xfrm>
          <a:prstGeom prst="rect">
            <a:avLst/>
          </a:prstGeom>
          <a:solidFill>
            <a:srgbClr val="F97316"/>
          </a:solidFill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8" y="2103120"/>
            <a:ext cx="640080" cy="6400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94576" y="278892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7316"/>
                </a:solidFill>
              </a:rPr>
              <a:t>Memory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986016" y="3200400"/>
            <a:ext cx="1874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</a:rPr>
              <a:t>短期记忆、长期记忆、向量检索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F59E0B">
              <a:alpha val="12000"/>
            </a:srgbClr>
          </a:solidFill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407408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14400" y="4389120"/>
            <a:ext cx="7680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</a:rPr>
              <a:t>核心能力：自主性（Autonomy）—— 不需要人类在每一步进行干预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应用形态对比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384048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743200" cy="640080"/>
          </a:xfrm>
          <a:prstGeom prst="rect">
            <a:avLst/>
          </a:prstGeom>
          <a:solidFill>
            <a:srgbClr val="64748B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115568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Prompt Engineering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0136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175564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</a:rPr>
              <a:t>单次交互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85416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2139696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</a:rPr>
              <a:t>无状态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9464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8680" y="2523744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</a:rPr>
              <a:t>无工具调用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53512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68680" y="290779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</a:rPr>
              <a:t>固定输出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502920" y="3429000"/>
            <a:ext cx="2468880" cy="45720"/>
          </a:xfrm>
          <a:prstGeom prst="rect">
            <a:avLst/>
          </a:prstGeom>
          <a:solidFill>
            <a:srgbClr val="64748B">
              <a:alpha val="40000"/>
            </a:srgbClr>
          </a:solidFill>
        </p:spPr>
      </p:sp>
      <p:sp>
        <p:nvSpPr>
          <p:cNvPr id="18" name="Text 11"/>
          <p:cNvSpPr/>
          <p:nvPr/>
        </p:nvSpPr>
        <p:spPr>
          <a:xfrm>
            <a:off x="502920" y="352044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适用：简单问答、文本生成</a:t>
            </a:r>
            <a:endParaRPr lang="en-US" sz="10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2377440"/>
            <a:ext cx="365760" cy="3657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3246120" y="1005840"/>
            <a:ext cx="2743200" cy="384048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3246120" y="1005840"/>
            <a:ext cx="2743200" cy="640080"/>
          </a:xfrm>
          <a:prstGeom prst="rect">
            <a:avLst/>
          </a:prstGeom>
          <a:solidFill>
            <a:srgbClr val="F59E0B"/>
          </a:solidFill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097280"/>
            <a:ext cx="411480" cy="4114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886200" y="1115568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Chain（链式）</a:t>
            </a:r>
            <a:endParaRPr lang="en-US" sz="13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801368"/>
            <a:ext cx="228600" cy="2286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749040" y="175564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</a:rPr>
              <a:t>固定流程</a:t>
            </a:r>
            <a:endParaRPr lang="en-US" sz="115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185416"/>
            <a:ext cx="228600" cy="2286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749040" y="2139696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</a:rPr>
              <a:t>顺序执行</a:t>
            </a:r>
            <a:endParaRPr lang="en-US" sz="115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569464"/>
            <a:ext cx="228600" cy="2286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3749040" y="2523744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</a:rPr>
              <a:t>可带工具</a:t>
            </a:r>
            <a:endParaRPr lang="en-US" sz="115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953512"/>
            <a:ext cx="228600" cy="22860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3749040" y="290779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</a:rPr>
              <a:t>可条件分支</a:t>
            </a:r>
            <a:endParaRPr lang="en-US" sz="1150" dirty="0"/>
          </a:p>
        </p:txBody>
      </p:sp>
      <p:sp>
        <p:nvSpPr>
          <p:cNvPr id="32" name="Shape 19"/>
          <p:cNvSpPr/>
          <p:nvPr/>
        </p:nvSpPr>
        <p:spPr>
          <a:xfrm>
            <a:off x="3383280" y="3429000"/>
            <a:ext cx="2468880" cy="45720"/>
          </a:xfrm>
          <a:prstGeom prst="rect">
            <a:avLst/>
          </a:prstGeom>
          <a:solidFill>
            <a:srgbClr val="64748B">
              <a:alpha val="40000"/>
            </a:srgbClr>
          </a:solidFill>
        </p:spPr>
      </p:sp>
      <p:sp>
        <p:nvSpPr>
          <p:cNvPr id="33" name="Text 20"/>
          <p:cNvSpPr/>
          <p:nvPr/>
        </p:nvSpPr>
        <p:spPr>
          <a:xfrm>
            <a:off x="3383280" y="352044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适用：数据处理流水线（RAG）</a:t>
            </a:r>
            <a:endParaRPr lang="en-US" sz="1000" dirty="0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377440"/>
            <a:ext cx="365760" cy="365760"/>
          </a:xfrm>
          <a:prstGeom prst="rect">
            <a:avLst/>
          </a:prstGeom>
        </p:spPr>
      </p:pic>
      <p:sp>
        <p:nvSpPr>
          <p:cNvPr id="35" name="Shape 21"/>
          <p:cNvSpPr/>
          <p:nvPr/>
        </p:nvSpPr>
        <p:spPr>
          <a:xfrm>
            <a:off x="6126480" y="1005840"/>
            <a:ext cx="2743200" cy="384048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Shape 22"/>
          <p:cNvSpPr/>
          <p:nvPr/>
        </p:nvSpPr>
        <p:spPr>
          <a:xfrm>
            <a:off x="6126480" y="1005840"/>
            <a:ext cx="2743200" cy="640080"/>
          </a:xfrm>
          <a:prstGeom prst="rect">
            <a:avLst/>
          </a:prstGeom>
          <a:solidFill>
            <a:srgbClr val="00D4FF"/>
          </a:solidFill>
        </p:spPr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097280"/>
            <a:ext cx="411480" cy="41148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766560" y="1115568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Agent（智能体）</a:t>
            </a:r>
            <a:endParaRPr lang="en-US" sz="1300" dirty="0"/>
          </a:p>
        </p:txBody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01368"/>
            <a:ext cx="228600" cy="22860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6629400" y="175564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</a:rPr>
              <a:t>自主决策</a:t>
            </a:r>
            <a:endParaRPr lang="en-US" sz="1150" dirty="0"/>
          </a:p>
        </p:txBody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85416"/>
            <a:ext cx="228600" cy="228600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6629400" y="2139696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</a:rPr>
              <a:t>循环执行</a:t>
            </a:r>
            <a:endParaRPr lang="en-US" sz="1150" dirty="0"/>
          </a:p>
        </p:txBody>
      </p:sp>
      <p:pic>
        <p:nvPicPr>
          <p:cNvPr id="43" name="Image 1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569464"/>
            <a:ext cx="228600" cy="228600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6629400" y="2523744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</a:rPr>
              <a:t>多工具协作</a:t>
            </a:r>
            <a:endParaRPr lang="en-US" sz="1150" dirty="0"/>
          </a:p>
        </p:txBody>
      </p:sp>
      <p:pic>
        <p:nvPicPr>
          <p:cNvPr id="45" name="Image 1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953512"/>
            <a:ext cx="228600" cy="228600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6629400" y="290779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</a:rPr>
              <a:t>自我反思</a:t>
            </a:r>
            <a:endParaRPr lang="en-US" sz="1150" dirty="0"/>
          </a:p>
        </p:txBody>
      </p:sp>
      <p:sp>
        <p:nvSpPr>
          <p:cNvPr id="47" name="Shape 28"/>
          <p:cNvSpPr/>
          <p:nvPr/>
        </p:nvSpPr>
        <p:spPr>
          <a:xfrm>
            <a:off x="6263640" y="3429000"/>
            <a:ext cx="2468880" cy="45720"/>
          </a:xfrm>
          <a:prstGeom prst="rect">
            <a:avLst/>
          </a:prstGeom>
          <a:solidFill>
            <a:srgbClr val="64748B">
              <a:alpha val="40000"/>
            </a:srgbClr>
          </a:solidFill>
        </p:spPr>
      </p:sp>
      <p:sp>
        <p:nvSpPr>
          <p:cNvPr id="48" name="Text 29"/>
          <p:cNvSpPr/>
          <p:nvPr/>
        </p:nvSpPr>
        <p:spPr>
          <a:xfrm>
            <a:off x="6263640" y="352044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适用：复杂任务（研究、自动化）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 Agent 模式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187452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6984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0515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</a:rPr>
              <a:t>ReAct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134416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Reasoning + Acting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167335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思考 → 行动 → 观察 → 循环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68880" y="1051560"/>
            <a:ext cx="1874520" cy="1691640"/>
          </a:xfrm>
          <a:prstGeom prst="rect">
            <a:avLst/>
          </a:prstGeom>
          <a:solidFill>
            <a:srgbClr val="0D1117"/>
          </a:solidFill>
        </p:spPr>
      </p:sp>
      <p:sp>
        <p:nvSpPr>
          <p:cNvPr id="11" name="Text 8"/>
          <p:cNvSpPr/>
          <p:nvPr/>
        </p:nvSpPr>
        <p:spPr>
          <a:xfrm>
            <a:off x="2542032" y="1097280"/>
            <a:ext cx="173736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not done: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thought = llm.reason()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 = llm.act(tool)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obs = tools.exec(action)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context += obs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663440" y="960120"/>
            <a:ext cx="4114800" cy="187452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06984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57800" y="10515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Plan-and-Execute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257800" y="134416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先规划后执行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800600" y="167335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一次性生成完整计划，再顺序执行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766560" y="1051560"/>
            <a:ext cx="1874520" cy="1691640"/>
          </a:xfrm>
          <a:prstGeom prst="rect">
            <a:avLst/>
          </a:prstGeom>
          <a:solidFill>
            <a:srgbClr val="0D1117"/>
          </a:solidFill>
        </p:spPr>
      </p:sp>
      <p:sp>
        <p:nvSpPr>
          <p:cNvPr id="18" name="Text 14"/>
          <p:cNvSpPr/>
          <p:nvPr/>
        </p:nvSpPr>
        <p:spPr>
          <a:xfrm>
            <a:off x="6839712" y="1097280"/>
            <a:ext cx="173736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 = llm.plan(task)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step in plan: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 = execute(step)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plan.refine(result)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plan.final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365760" y="2971800"/>
            <a:ext cx="4114800" cy="187452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81528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60120" y="306324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Self-Ask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960120" y="335584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自我提问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02920" y="368503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自己提出子问题，回答后再汇总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2468880" y="3063240"/>
            <a:ext cx="1874520" cy="1691640"/>
          </a:xfrm>
          <a:prstGeom prst="rect">
            <a:avLst/>
          </a:prstGeom>
          <a:solidFill>
            <a:srgbClr val="0D1117"/>
          </a:solidFill>
        </p:spPr>
      </p:sp>
      <p:sp>
        <p:nvSpPr>
          <p:cNvPr id="25" name="Text 20"/>
          <p:cNvSpPr/>
          <p:nvPr/>
        </p:nvSpPr>
        <p:spPr>
          <a:xfrm>
            <a:off x="2542032" y="3108960"/>
            <a:ext cx="173736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 = llm.answer(main_q)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needs_subq(ans):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sub_q = extract(ans)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sub_a = search(sub_q)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ans = synthesize(sub_a)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4663440" y="2971800"/>
            <a:ext cx="4114800" cy="187452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081528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257800" y="306324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</a:rPr>
              <a:t>Hive-Mind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257800" y="335584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多 Agent 协作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800600" y="368503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多个专业 Agent 分工合作、投票决策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6766560" y="3063240"/>
            <a:ext cx="1874520" cy="1691640"/>
          </a:xfrm>
          <a:prstGeom prst="rect">
            <a:avLst/>
          </a:prstGeom>
          <a:solidFill>
            <a:srgbClr val="0D1117"/>
          </a:solidFill>
        </p:spPr>
      </p:sp>
      <p:sp>
        <p:nvSpPr>
          <p:cNvPr id="32" name="Text 26"/>
          <p:cNvSpPr/>
          <p:nvPr/>
        </p:nvSpPr>
        <p:spPr>
          <a:xfrm>
            <a:off x="6839712" y="3108960"/>
            <a:ext cx="173736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 = [researcher,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coder, reviewer]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= parallel(agents)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consensus = vote(res)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= synthesize(consensus)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0A0E1A"/>
                </a:solidFill>
              </a:rPr>
              <a:t>PART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工程化实践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2743200" cy="54864"/>
          </a:xfrm>
          <a:prstGeom prst="rect">
            <a:avLst/>
          </a:prstGeom>
          <a:solidFill>
            <a:srgbClr val="0A0E1A"/>
          </a:solidFill>
        </p:spPr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A0E1A"/>
                </a:solidFill>
              </a:rPr>
              <a:t>Tool Calling · 错误处理 · 多 Agent 协作 · 流式输出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工具调用：OpenAI Tool Calling 格式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023360" cy="3977640"/>
          </a:xfrm>
          <a:prstGeom prst="rect">
            <a:avLst/>
          </a:prstGeom>
          <a:solidFill>
            <a:srgbClr val="0D1117"/>
          </a:solidFill>
        </p:spPr>
      </p:sp>
      <p:sp>
        <p:nvSpPr>
          <p:cNvPr id="6" name="Text 4"/>
          <p:cNvSpPr/>
          <p:nvPr/>
        </p:nvSpPr>
        <p:spPr>
          <a:xfrm>
            <a:off x="457200" y="1051560"/>
            <a:ext cx="3749040" cy="3794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工具定义（JSON Schema）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"function",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"function":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"get_weather",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"description": "获取城市天气",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"parameters":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"object",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"properties":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"city": { "type": "string"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"unit": { "enum": ["c","f"], "default": "c"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"required": ["city"]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LLM 返回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"tool_calls": [{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"id": "call_abc",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"function",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"function":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 "get_weather",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"arguments": '{"city":"北京"}'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480560" y="960120"/>
            <a:ext cx="4343400" cy="3977640"/>
          </a:xfrm>
          <a:prstGeom prst="rect">
            <a:avLst/>
          </a:prstGeom>
          <a:solidFill>
            <a:srgbClr val="0D1117"/>
          </a:solidFill>
        </p:spPr>
      </p:sp>
      <p:sp>
        <p:nvSpPr>
          <p:cNvPr id="8" name="Text 6"/>
          <p:cNvSpPr/>
          <p:nvPr/>
        </p:nvSpPr>
        <p:spPr>
          <a:xfrm>
            <a:off x="4617720" y="1051560"/>
            <a:ext cx="4069080" cy="3794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完整调用流程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callWithTools(msg, tools)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resp = await openai.chat.completions.create({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model: "gpt-4o",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[{ role: "user", content: msg }],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tools: tools, tool_choice: "auto"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msg2 = resp.choices[0].message;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(!msg2.tool_calls) return msg2.content;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tc = msg2.tool_calls[0];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result = await executeTool(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tc.function.name,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JSON.parse(tc.function.arguments)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追加工具结果，重新调用 LLM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final = await openai.chat.completions.create({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role: "user", content: msg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msg2,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role: "tool", tool_call_id: tc.id,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content: JSON.stringify(result)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final.choices[0].message.content;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工具调用：MCP 协议（Model Context Protocol）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</a:rPr>
              <a:t>MCP = 大模型与数据源的标准化连接协议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97480" cy="109728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2697480" cy="45720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8" name="Text 6"/>
          <p:cNvSpPr/>
          <p:nvPr/>
        </p:nvSpPr>
        <p:spPr>
          <a:xfrm>
            <a:off x="365760" y="141732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Host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1947672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2377440"/>
            <a:ext cx="2697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LLM 应用（Cursor、Claude Desktop）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46120" y="1417320"/>
            <a:ext cx="2697480" cy="109728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417320"/>
            <a:ext cx="2697480" cy="4572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3" name="Text 10"/>
          <p:cNvSpPr/>
          <p:nvPr/>
        </p:nvSpPr>
        <p:spPr>
          <a:xfrm>
            <a:off x="3246120" y="141732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MCP Client</a:t>
            </a:r>
            <a:endParaRPr lang="en-US" sz="14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947672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46120" y="2377440"/>
            <a:ext cx="2697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嵌入 Host 的 SDK（各语言实现）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26480" y="1417320"/>
            <a:ext cx="2697480" cy="109728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417320"/>
            <a:ext cx="269748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8" name="Text 14"/>
          <p:cNvSpPr/>
          <p:nvPr/>
        </p:nvSpPr>
        <p:spPr>
          <a:xfrm>
            <a:off x="6126480" y="141732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</a:rPr>
              <a:t>MCP Server</a:t>
            </a:r>
            <a:endParaRPr lang="en-US" sz="14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48" y="1947672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26480" y="2377440"/>
            <a:ext cx="2697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独立进程：提供工具/资源/提示</a:t>
            </a:r>
            <a:endParaRPr lang="en-US" sz="9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1783080"/>
            <a:ext cx="320040" cy="320040"/>
          </a:xfrm>
          <a:prstGeom prst="rect">
            <a:avLst/>
          </a:prstGeom>
        </p:spPr>
      </p:pic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783080"/>
            <a:ext cx="320040" cy="32004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320040" y="2651760"/>
            <a:ext cx="8503920" cy="2331720"/>
          </a:xfrm>
          <a:prstGeom prst="rect">
            <a:avLst/>
          </a:prstGeom>
          <a:solidFill>
            <a:srgbClr val="0D1117"/>
          </a:solidFill>
        </p:spPr>
      </p:sp>
      <p:sp>
        <p:nvSpPr>
          <p:cNvPr id="24" name="Text 17"/>
          <p:cNvSpPr/>
          <p:nvPr/>
        </p:nvSpPr>
        <p:spPr>
          <a:xfrm>
            <a:off x="457200" y="2743200"/>
            <a:ext cx="8229600" cy="2148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MCP Server 示例（Node.js SDK）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Server } = require('@modelcontextprotocol/sdk/server');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StdioServerTransport } = require('@modelcontextprotocol/sdk/server/stdio');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server = new Server(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 "filesystem-server", version: "1.0.0"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capabilities: { tools: {}, resources: {} }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server.setRequestHandler("tools/list", async () =&gt; ({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tools: [{ name: "read_file", description: "读取文件",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inputSchema: { type: "object",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properties: { path: { type: "string" }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required: ["path"] }}]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server.setRequestHandler("tools/call", async (req)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name, arguments: args } = req.params;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(name === "read_file")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 content: fs.readFileSync(args.path, "utf-8")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StdioServerTransport().startListening(server);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记忆架构：三层存储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88920" cy="393192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788920" cy="594360"/>
          </a:xfrm>
          <a:prstGeom prst="rect">
            <a:avLst/>
          </a:prstGeom>
          <a:solidFill>
            <a:srgbClr val="00D4FF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078992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上下文窗口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1645920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当前对话历史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39112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1520" y="1993392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系统提示词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86584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1520" y="2340864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最近消息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457200" y="2788920"/>
            <a:ext cx="2514600" cy="45720"/>
          </a:xfrm>
          <a:prstGeom prst="rect">
            <a:avLst/>
          </a:prstGeom>
          <a:solidFill>
            <a:srgbClr val="00D4FF">
              <a:alpha val="40000"/>
            </a:srgbClr>
          </a:solidFill>
        </p:spPr>
      </p:sp>
      <p:sp>
        <p:nvSpPr>
          <p:cNvPr id="16" name="Text 10"/>
          <p:cNvSpPr/>
          <p:nvPr/>
        </p:nvSpPr>
        <p:spPr>
          <a:xfrm>
            <a:off x="457200" y="2880360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</a:rPr>
              <a:t>容量：~128K tokens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457200" y="3136392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延迟：即时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411480" y="3429000"/>
            <a:ext cx="2606040" cy="1371600"/>
          </a:xfrm>
          <a:prstGeom prst="rect">
            <a:avLst/>
          </a:prstGeom>
          <a:solidFill>
            <a:srgbClr val="0D1117"/>
          </a:solidFill>
        </p:spPr>
      </p:sp>
      <p:sp>
        <p:nvSpPr>
          <p:cNvPr id="19" name="Text 13"/>
          <p:cNvSpPr/>
          <p:nvPr/>
        </p:nvSpPr>
        <p:spPr>
          <a:xfrm>
            <a:off x="484632" y="3493008"/>
            <a:ext cx="2468880" cy="12435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对话历史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= messages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.slice(-20)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.join('\n');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3246120" y="960120"/>
            <a:ext cx="2788920" cy="393192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3246120" y="960120"/>
            <a:ext cx="2788920" cy="594360"/>
          </a:xfrm>
          <a:prstGeom prst="rect">
            <a:avLst/>
          </a:prstGeom>
          <a:solidFill>
            <a:srgbClr val="F59E0B"/>
          </a:solidFill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05156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40480" y="1078992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短期记忆</a:t>
            </a:r>
            <a:endParaRPr lang="en-US" sz="13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691640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657600" y="1645920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Session 持久化</a:t>
            </a:r>
            <a:endParaRPr lang="en-US" sz="10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039112"/>
            <a:ext cx="201168" cy="20116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3657600" y="1993392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跨轮次状态</a:t>
            </a:r>
            <a:endParaRPr lang="en-US" sz="10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386584"/>
            <a:ext cx="201168" cy="20116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657600" y="2340864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自动截断</a:t>
            </a:r>
            <a:endParaRPr lang="en-US" sz="1000" dirty="0"/>
          </a:p>
        </p:txBody>
      </p:sp>
      <p:sp>
        <p:nvSpPr>
          <p:cNvPr id="30" name="Shape 20"/>
          <p:cNvSpPr/>
          <p:nvPr/>
        </p:nvSpPr>
        <p:spPr>
          <a:xfrm>
            <a:off x="3383280" y="2788920"/>
            <a:ext cx="2514600" cy="45720"/>
          </a:xfrm>
          <a:prstGeom prst="rect">
            <a:avLst/>
          </a:prstGeom>
          <a:solidFill>
            <a:srgbClr val="F59E0B">
              <a:alpha val="40000"/>
            </a:srgbClr>
          </a:solidFill>
        </p:spPr>
      </p:sp>
      <p:sp>
        <p:nvSpPr>
          <p:cNvPr id="31" name="Text 21"/>
          <p:cNvSpPr/>
          <p:nvPr/>
        </p:nvSpPr>
        <p:spPr>
          <a:xfrm>
            <a:off x="3383280" y="2880360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容量：无限制（内存）</a:t>
            </a:r>
            <a:endParaRPr lang="en-US" sz="900" dirty="0"/>
          </a:p>
        </p:txBody>
      </p:sp>
      <p:sp>
        <p:nvSpPr>
          <p:cNvPr id="32" name="Text 22"/>
          <p:cNvSpPr/>
          <p:nvPr/>
        </p:nvSpPr>
        <p:spPr>
          <a:xfrm>
            <a:off x="3383280" y="3136392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延迟：即时</a:t>
            </a:r>
            <a:endParaRPr lang="en-US" sz="900" dirty="0"/>
          </a:p>
        </p:txBody>
      </p:sp>
      <p:sp>
        <p:nvSpPr>
          <p:cNvPr id="33" name="Shape 23"/>
          <p:cNvSpPr/>
          <p:nvPr/>
        </p:nvSpPr>
        <p:spPr>
          <a:xfrm>
            <a:off x="3337560" y="3429000"/>
            <a:ext cx="2606040" cy="1371600"/>
          </a:xfrm>
          <a:prstGeom prst="rect">
            <a:avLst/>
          </a:prstGeom>
          <a:solidFill>
            <a:srgbClr val="0D1117"/>
          </a:solidFill>
        </p:spPr>
      </p:sp>
      <p:sp>
        <p:nvSpPr>
          <p:cNvPr id="34" name="Text 24"/>
          <p:cNvSpPr/>
          <p:nvPr/>
        </p:nvSpPr>
        <p:spPr>
          <a:xfrm>
            <a:off x="3410712" y="3493008"/>
            <a:ext cx="2468880" cy="12435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this.memory.add(role, content);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(countTokens &gt; MAX)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this.memory.shift();</a:t>
            </a:r>
            <a:endParaRPr lang="en-US" sz="800" dirty="0"/>
          </a:p>
        </p:txBody>
      </p:sp>
      <p:sp>
        <p:nvSpPr>
          <p:cNvPr id="35" name="Shape 25"/>
          <p:cNvSpPr/>
          <p:nvPr/>
        </p:nvSpPr>
        <p:spPr>
          <a:xfrm>
            <a:off x="6172200" y="960120"/>
            <a:ext cx="2788920" cy="393192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6172200" y="960120"/>
            <a:ext cx="2788920" cy="594360"/>
          </a:xfrm>
          <a:prstGeom prst="rect">
            <a:avLst/>
          </a:prstGeom>
          <a:solidFill>
            <a:srgbClr val="10B981"/>
          </a:solidFill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051560"/>
            <a:ext cx="365760" cy="36576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766560" y="1078992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长期记忆（向量）</a:t>
            </a:r>
            <a:endParaRPr lang="en-US" sz="130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91640"/>
            <a:ext cx="201168" cy="201168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6583680" y="1645920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向量嵌入存储</a:t>
            </a:r>
            <a:endParaRPr lang="en-US" sz="1000" dirty="0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39112"/>
            <a:ext cx="201168" cy="201168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6583680" y="1993392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语义相似度检索</a:t>
            </a:r>
            <a:endParaRPr lang="en-US" sz="1000" dirty="0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86584"/>
            <a:ext cx="201168" cy="201168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6583680" y="2340864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持久化到数据库</a:t>
            </a:r>
            <a:endParaRPr lang="en-US" sz="1000" dirty="0"/>
          </a:p>
        </p:txBody>
      </p:sp>
      <p:sp>
        <p:nvSpPr>
          <p:cNvPr id="45" name="Shape 31"/>
          <p:cNvSpPr/>
          <p:nvPr/>
        </p:nvSpPr>
        <p:spPr>
          <a:xfrm>
            <a:off x="6309360" y="2788920"/>
            <a:ext cx="2514600" cy="45720"/>
          </a:xfrm>
          <a:prstGeom prst="rect">
            <a:avLst/>
          </a:prstGeom>
          <a:solidFill>
            <a:srgbClr val="10B981">
              <a:alpha val="40000"/>
            </a:srgbClr>
          </a:solidFill>
        </p:spPr>
      </p:sp>
      <p:sp>
        <p:nvSpPr>
          <p:cNvPr id="46" name="Text 32"/>
          <p:cNvSpPr/>
          <p:nvPr/>
        </p:nvSpPr>
        <p:spPr>
          <a:xfrm>
            <a:off x="6309360" y="2880360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</a:rPr>
              <a:t>容量：无限（磁盘）</a:t>
            </a:r>
            <a:endParaRPr lang="en-US" sz="900" dirty="0"/>
          </a:p>
        </p:txBody>
      </p:sp>
      <p:sp>
        <p:nvSpPr>
          <p:cNvPr id="47" name="Text 33"/>
          <p:cNvSpPr/>
          <p:nvPr/>
        </p:nvSpPr>
        <p:spPr>
          <a:xfrm>
            <a:off x="6309360" y="3136392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延迟：10-100ms</a:t>
            </a:r>
            <a:endParaRPr lang="en-US" sz="900" dirty="0"/>
          </a:p>
        </p:txBody>
      </p:sp>
      <p:sp>
        <p:nvSpPr>
          <p:cNvPr id="48" name="Shape 34"/>
          <p:cNvSpPr/>
          <p:nvPr/>
        </p:nvSpPr>
        <p:spPr>
          <a:xfrm>
            <a:off x="6263640" y="3429000"/>
            <a:ext cx="2606040" cy="1371600"/>
          </a:xfrm>
          <a:prstGeom prst="rect">
            <a:avLst/>
          </a:prstGeom>
          <a:solidFill>
            <a:srgbClr val="0D1117"/>
          </a:solidFill>
        </p:spPr>
      </p:sp>
      <p:sp>
        <p:nvSpPr>
          <p:cNvPr id="49" name="Text 35"/>
          <p:cNvSpPr/>
          <p:nvPr/>
        </p:nvSpPr>
        <p:spPr>
          <a:xfrm>
            <a:off x="6336792" y="3493008"/>
            <a:ext cx="2468880" cy="12435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Pinecone / FAISS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 = await embed(text);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index.search(emb, k=5);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= retrieved + current;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 Agent 实现：含错误处理与重试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3977640"/>
          </a:xfrm>
          <a:prstGeom prst="rect">
            <a:avLst/>
          </a:prstGeom>
          <a:solidFill>
            <a:srgbClr val="0D1117"/>
          </a:solidFill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3794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Agent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constructor(config)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this.llm = config.llm;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this.tools = config.tools;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this.maxIterations = config.maxIterations || 10;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this.maxRetries = config.maxRetries || 3;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this.timeout = config.timeout || 30000;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execute(task)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ctx = { task, history: [], errors: []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iter = 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(iter &lt; this.maxIterations)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try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const plan = await withTimeout(this.plan(ctx), this.timeout);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(plan.type === "final")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return { success: true, result: plan.content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const result = await withRetry(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() =&gt; this.tools.call(plan.name, plan.args),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this.maxRetries,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(err, attempt) =&gt; ctx.errors.push({ attempt, error: err.message })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(!this.validateResult(result, plan))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throw new Error("Invalid result for tool: " + plan.name);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ctx.history.push({ plan, result });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iter++;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 catch (err)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(err.name === 'TimeoutError')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return { success: false, error: "Execution timeout"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(ctx.errors.length &gt;= this.maxRetries * this.maxIterations)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return { success: false, error: err.message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 success: false, error: "Max iterations exceeded"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指数退避重试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withRetry(fn, maxRetries, onError)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(let attempt = 1; attempt &lt;= maxRetries; attempt++)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{ return await fn();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catch (err)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(attempt === maxRetries) throw err;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onError(err, attempt);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await sleep(Math.pow(2, attempt) * 100);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超时包装器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withTimeout(promise, ms)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Promise.race([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promise,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Promise((_, reject) =&gt; setTimeout(() =&gt; reject(new TimeoutError()), ms))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系统：协作模式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0" y="1005840"/>
            <a:ext cx="2743200" cy="77724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0" y="1005840"/>
            <a:ext cx="2743200" cy="41148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7" name="Text 5"/>
          <p:cNvSpPr/>
          <p:nvPr/>
        </p:nvSpPr>
        <p:spPr>
          <a:xfrm>
            <a:off x="3200400" y="100584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</a:rPr>
              <a:t>Manager Agent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144475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任务分解 · 调度 · 结果汇总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03120" y="1783080"/>
            <a:ext cx="73152" cy="32004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10" name="Shape 8"/>
          <p:cNvSpPr/>
          <p:nvPr/>
        </p:nvSpPr>
        <p:spPr>
          <a:xfrm>
            <a:off x="4846320" y="1783080"/>
            <a:ext cx="73152" cy="32004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11" name="Shape 9"/>
          <p:cNvSpPr/>
          <p:nvPr/>
        </p:nvSpPr>
        <p:spPr>
          <a:xfrm>
            <a:off x="7589520" y="1783080"/>
            <a:ext cx="73152" cy="32004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12" name="Shape 10"/>
          <p:cNvSpPr/>
          <p:nvPr/>
        </p:nvSpPr>
        <p:spPr>
          <a:xfrm>
            <a:off x="640080" y="2148840"/>
            <a:ext cx="2560320" cy="109728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148840"/>
            <a:ext cx="2560320" cy="45720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4" name="Text 12"/>
          <p:cNvSpPr/>
          <p:nvPr/>
        </p:nvSpPr>
        <p:spPr>
          <a:xfrm>
            <a:off x="640080" y="21488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</a:rPr>
              <a:t>Researcher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633472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搜索 · 爬虫 · 阅读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66160" y="2148840"/>
            <a:ext cx="2560320" cy="109728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66160" y="2148840"/>
            <a:ext cx="2560320" cy="4572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8" name="Text 16"/>
          <p:cNvSpPr/>
          <p:nvPr/>
        </p:nvSpPr>
        <p:spPr>
          <a:xfrm>
            <a:off x="3566160" y="21488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Coder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2633472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写代码 · 调试 · 重构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2148840"/>
            <a:ext cx="2560320" cy="109728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2148840"/>
            <a:ext cx="2560320" cy="45720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22" name="Text 20"/>
          <p:cNvSpPr/>
          <p:nvPr/>
        </p:nvSpPr>
        <p:spPr>
          <a:xfrm>
            <a:off x="6492240" y="21488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Reviewer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2633472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审查 · 建议 · 优化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37360" y="3246120"/>
            <a:ext cx="73152" cy="22860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25" name="Shape 23"/>
          <p:cNvSpPr/>
          <p:nvPr/>
        </p:nvSpPr>
        <p:spPr>
          <a:xfrm>
            <a:off x="4663440" y="3246120"/>
            <a:ext cx="73152" cy="22860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26" name="Shape 24"/>
          <p:cNvSpPr/>
          <p:nvPr/>
        </p:nvSpPr>
        <p:spPr>
          <a:xfrm>
            <a:off x="7406640" y="3246120"/>
            <a:ext cx="73152" cy="22860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27" name="Shape 25"/>
          <p:cNvSpPr/>
          <p:nvPr/>
        </p:nvSpPr>
        <p:spPr>
          <a:xfrm>
            <a:off x="1737360" y="3246120"/>
            <a:ext cx="5669280" cy="54864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28" name="Shape 26"/>
          <p:cNvSpPr/>
          <p:nvPr/>
        </p:nvSpPr>
        <p:spPr>
          <a:xfrm>
            <a:off x="4434840" y="3063240"/>
            <a:ext cx="73152" cy="18288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29" name="Shape 27"/>
          <p:cNvSpPr/>
          <p:nvPr/>
        </p:nvSpPr>
        <p:spPr>
          <a:xfrm>
            <a:off x="3200400" y="3566160"/>
            <a:ext cx="2743200" cy="54864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3657600"/>
            <a:ext cx="320040" cy="3200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3749040" y="3675888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</a:rPr>
              <a:t>共享记忆（向量数据库）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365760" y="4251960"/>
            <a:ext cx="2011680" cy="50292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43400"/>
            <a:ext cx="274320" cy="27432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777240" y="434340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串行：A → B → C → D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2560320" y="4251960"/>
            <a:ext cx="2011680" cy="50292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4343400"/>
            <a:ext cx="274320" cy="27432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2971800" y="434340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并行：A → [B, C, D] → E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4754880" y="4251960"/>
            <a:ext cx="2011680" cy="50292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4343400"/>
            <a:ext cx="274320" cy="27432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166360" y="434340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投票：[A, B, C] → 多数票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6949440" y="4251960"/>
            <a:ext cx="2011680" cy="50292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4343400"/>
            <a:ext cx="274320" cy="27432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7360920" y="434340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层次：Manager → Workers → M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流式输出：Streaming 实时交互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77640" cy="1280160"/>
          </a:xfrm>
          <a:prstGeom prst="rect">
            <a:avLst/>
          </a:prstGeom>
          <a:solidFill>
            <a:srgbClr val="1A2744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0972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</a:rPr>
              <a:t>Server-Sent Events (SSE)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155448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HTTP 长连接，服务器推送数据到浏览器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逐 token 返回，无需等待完整响应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适合：聊天、代码生成、实时日志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960120"/>
            <a:ext cx="4114800" cy="1280160"/>
          </a:xfrm>
          <a:prstGeom prst="rect">
            <a:avLst/>
          </a:prstGeom>
          <a:solidFill>
            <a:srgbClr val="1A2744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0515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0972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WebSocket（全双工）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800600" y="155448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全双工通信，可双向发送消息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适合：Agent 过程监控、多轮对话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复杂度更高，需要连接管理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0040" y="2377440"/>
            <a:ext cx="4114800" cy="2560320"/>
          </a:xfrm>
          <a:prstGeom prst="rect">
            <a:avLst/>
          </a:prstGeom>
          <a:solidFill>
            <a:srgbClr val="0D1117"/>
          </a:solidFill>
        </p:spPr>
      </p:sp>
      <p:sp>
        <p:nvSpPr>
          <p:cNvPr id="14" name="Text 10"/>
          <p:cNvSpPr/>
          <p:nvPr/>
        </p:nvSpPr>
        <p:spPr>
          <a:xfrm>
            <a:off x="457200" y="2468880"/>
            <a:ext cx="384048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后端：OpenAI Streaming → SSE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app.post('/chat/stream', async (req, res)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res.writeHead(200,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'Content-Type': 'text/event-stream',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'Cache-Control': 'no-cache'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stream = await openai.chat.completions.create({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model: "gpt-4o",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[{ role: "user", content: req.body.message }],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stream: true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await (const chunk of stream)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token = chunk.choices[0]?.delta?.content || "";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(token) res.write("data: " + JSON.stringify({ token })/**/ + "\n\n");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res.write("data: [DONE]\n\n"); res.end();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572000" y="2377440"/>
            <a:ext cx="4251960" cy="2560320"/>
          </a:xfrm>
          <a:prstGeom prst="rect">
            <a:avLst/>
          </a:prstGeom>
          <a:solidFill>
            <a:srgbClr val="0D1117"/>
          </a:solidFill>
        </p:spPr>
      </p:sp>
      <p:sp>
        <p:nvSpPr>
          <p:cNvPr id="16" name="Text 12"/>
          <p:cNvSpPr/>
          <p:nvPr/>
        </p:nvSpPr>
        <p:spPr>
          <a:xfrm>
            <a:off x="4709160" y="2468880"/>
            <a:ext cx="397764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前端：EventSource 接收 + 实时渲染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es = new EventSource('/chat/stream?msg=' + encodeURIComponent(input));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fullResponse = "";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es.onmessage = (event)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(event.data === '[DONE]') { es.close(); return;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token } = JSON.parse(event.data);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fullResponse += token;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displayText.textContent = fullResponse;  // 实时渲染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工具调用流式处理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function* streamToolCalls(agent, task)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await (const step of agent.run(task))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{ type: 'step', data: step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(step.type === 'tool_result')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yield { type: 'tool', data: step.tool, args: step.args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(step.type === 'final')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yield { type: 'done', data: step.content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生产级要素：安全 · 限流 · 监控 · 部署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60520" cy="187452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1430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安全边界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156362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Tool 权限控制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188366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输入/输出过滤（防 Prompt 注入）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40280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2960" y="220370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敏感数据脱敏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0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22960" y="252374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沙箱执行（代码解释器）</a:t>
            </a:r>
            <a:endParaRPr lang="en-US" sz="1050" dirty="0"/>
          </a:p>
        </p:txBody>
      </p:sp>
      <p:sp>
        <p:nvSpPr>
          <p:cNvPr id="16" name="Shape 9"/>
          <p:cNvSpPr/>
          <p:nvPr/>
        </p:nvSpPr>
        <p:spPr>
          <a:xfrm>
            <a:off x="4663440" y="960120"/>
            <a:ext cx="4160520" cy="187452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411480" cy="41148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303520" y="11430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认证 &amp; 鉴权</a:t>
            </a:r>
            <a:endParaRPr lang="en-US" sz="14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00200"/>
            <a:ext cx="182880" cy="18288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120640" y="156362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API Key / JWT Token 管理</a:t>
            </a:r>
            <a:endParaRPr lang="en-US" sz="105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920240"/>
            <a:ext cx="182880" cy="18288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120640" y="188366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OAuth 2.0 第三方认证</a:t>
            </a:r>
            <a:endParaRPr lang="en-US" sz="105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240280"/>
            <a:ext cx="182880" cy="18288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120640" y="220370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工具调用频率限制</a:t>
            </a:r>
            <a:endParaRPr lang="en-US" sz="105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560320"/>
            <a:ext cx="182880" cy="18288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120640" y="252374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消费配额（quota）和计费</a:t>
            </a:r>
            <a:endParaRPr lang="en-US" sz="1050" dirty="0"/>
          </a:p>
        </p:txBody>
      </p:sp>
      <p:sp>
        <p:nvSpPr>
          <p:cNvPr id="27" name="Shape 15"/>
          <p:cNvSpPr/>
          <p:nvPr/>
        </p:nvSpPr>
        <p:spPr>
          <a:xfrm>
            <a:off x="365760" y="2971800"/>
            <a:ext cx="4160520" cy="187452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108960"/>
            <a:ext cx="411480" cy="41148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1005840" y="31546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</a:rPr>
              <a:t>超时 &amp; 重试</a:t>
            </a:r>
            <a:endParaRPr lang="en-US" sz="140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11880"/>
            <a:ext cx="182880" cy="18288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822960" y="357530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LLM 调用超时：30-60s</a:t>
            </a:r>
            <a:endParaRPr lang="en-US" sz="1050" dirty="0"/>
          </a:p>
        </p:txBody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31920"/>
            <a:ext cx="182880" cy="182880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822960" y="389534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工具执行超时：10-30s</a:t>
            </a:r>
            <a:endParaRPr lang="en-US" sz="1050" dirty="0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51960"/>
            <a:ext cx="182880" cy="182880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822960" y="421538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指数退避重试（最多 3 次）</a:t>
            </a:r>
            <a:endParaRPr lang="en-US" sz="1050" dirty="0"/>
          </a:p>
        </p:txBody>
      </p:sp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0"/>
            <a:ext cx="182880" cy="182880"/>
          </a:xfrm>
          <a:prstGeom prst="rect">
            <a:avLst/>
          </a:prstGeom>
        </p:spPr>
      </p:pic>
      <p:sp>
        <p:nvSpPr>
          <p:cNvPr id="37" name="Text 20"/>
          <p:cNvSpPr/>
          <p:nvPr/>
        </p:nvSpPr>
        <p:spPr>
          <a:xfrm>
            <a:off x="822960" y="453542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熔断器（Circuit Breaker）</a:t>
            </a:r>
            <a:endParaRPr lang="en-US" sz="1050" dirty="0"/>
          </a:p>
        </p:txBody>
      </p:sp>
      <p:sp>
        <p:nvSpPr>
          <p:cNvPr id="38" name="Shape 21"/>
          <p:cNvSpPr/>
          <p:nvPr/>
        </p:nvSpPr>
        <p:spPr>
          <a:xfrm>
            <a:off x="4663440" y="2971800"/>
            <a:ext cx="4160520" cy="187452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39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108960"/>
            <a:ext cx="411480" cy="411480"/>
          </a:xfrm>
          <a:prstGeom prst="rect">
            <a:avLst/>
          </a:prstGeom>
        </p:spPr>
      </p:pic>
      <p:sp>
        <p:nvSpPr>
          <p:cNvPr id="40" name="Text 22"/>
          <p:cNvSpPr/>
          <p:nvPr/>
        </p:nvSpPr>
        <p:spPr>
          <a:xfrm>
            <a:off x="5303520" y="31546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可观测性</a:t>
            </a:r>
            <a:endParaRPr lang="en-US" sz="1400" dirty="0"/>
          </a:p>
        </p:txBody>
      </p:sp>
      <p:pic>
        <p:nvPicPr>
          <p:cNvPr id="41" name="Image 1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611880"/>
            <a:ext cx="182880" cy="182880"/>
          </a:xfrm>
          <a:prstGeom prst="rect">
            <a:avLst/>
          </a:prstGeom>
        </p:spPr>
      </p:pic>
      <p:sp>
        <p:nvSpPr>
          <p:cNvPr id="42" name="Text 23"/>
          <p:cNvSpPr/>
          <p:nvPr/>
        </p:nvSpPr>
        <p:spPr>
          <a:xfrm>
            <a:off x="5120640" y="357530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结构化日志（LLM 请求/响应）</a:t>
            </a:r>
            <a:endParaRPr lang="en-US" sz="1050" dirty="0"/>
          </a:p>
        </p:txBody>
      </p:sp>
      <p:pic>
        <p:nvPicPr>
          <p:cNvPr id="43" name="Image 1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931920"/>
            <a:ext cx="182880" cy="182880"/>
          </a:xfrm>
          <a:prstGeom prst="rect">
            <a:avLst/>
          </a:prstGeom>
        </p:spPr>
      </p:pic>
      <p:sp>
        <p:nvSpPr>
          <p:cNvPr id="44" name="Text 24"/>
          <p:cNvSpPr/>
          <p:nvPr/>
        </p:nvSpPr>
        <p:spPr>
          <a:xfrm>
            <a:off x="5120640" y="389534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OpenTelemetry Trace</a:t>
            </a:r>
            <a:endParaRPr lang="en-US" sz="1050" dirty="0"/>
          </a:p>
        </p:txBody>
      </p:sp>
      <p:pic>
        <p:nvPicPr>
          <p:cNvPr id="45" name="Image 18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251960"/>
            <a:ext cx="182880" cy="182880"/>
          </a:xfrm>
          <a:prstGeom prst="rect">
            <a:avLst/>
          </a:prstGeom>
        </p:spPr>
      </p:pic>
      <p:sp>
        <p:nvSpPr>
          <p:cNvPr id="46" name="Text 25"/>
          <p:cNvSpPr/>
          <p:nvPr/>
        </p:nvSpPr>
        <p:spPr>
          <a:xfrm>
            <a:off x="5120640" y="421538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Token 消耗统计</a:t>
            </a:r>
            <a:endParaRPr lang="en-US" sz="1050" dirty="0"/>
          </a:p>
        </p:txBody>
      </p:sp>
      <p:pic>
        <p:nvPicPr>
          <p:cNvPr id="47" name="Image 19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572000"/>
            <a:ext cx="182880" cy="182880"/>
          </a:xfrm>
          <a:prstGeom prst="rect">
            <a:avLst/>
          </a:prstGeom>
        </p:spPr>
      </p:pic>
      <p:sp>
        <p:nvSpPr>
          <p:cNvPr id="48" name="Text 26"/>
          <p:cNvSpPr/>
          <p:nvPr/>
        </p:nvSpPr>
        <p:spPr>
          <a:xfrm>
            <a:off x="5120640" y="453542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Agent 执行路径可视化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生产级 Agent 架构图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194560" cy="59436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21945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E8F0"/>
                </a:solidFill>
              </a:rPr>
              <a:t>用户应用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143000"/>
            <a:ext cx="320040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063240" y="960120"/>
            <a:ext cx="2880360" cy="59436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063240" y="960120"/>
            <a:ext cx="2880360" cy="292608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0" name="Text 7"/>
          <p:cNvSpPr/>
          <p:nvPr/>
        </p:nvSpPr>
        <p:spPr>
          <a:xfrm>
            <a:off x="3063240" y="960120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0E1A"/>
                </a:solidFill>
              </a:rPr>
              <a:t>API Gateway（限流 · 鉴权 · 路由）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063240" y="1252728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BFF Layer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143000"/>
            <a:ext cx="320040" cy="320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400800" y="868680"/>
            <a:ext cx="2331720" cy="160020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0" y="868680"/>
            <a:ext cx="2331720" cy="45720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5" name="Text 11"/>
          <p:cNvSpPr/>
          <p:nvPr/>
        </p:nvSpPr>
        <p:spPr>
          <a:xfrm>
            <a:off x="6400800" y="86868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</a:rPr>
              <a:t>Agent Runtime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92240" y="1399032"/>
            <a:ext cx="109728" cy="164592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7" name="Text 13"/>
          <p:cNvSpPr/>
          <p:nvPr/>
        </p:nvSpPr>
        <p:spPr>
          <a:xfrm>
            <a:off x="6693408" y="137160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LLM Orchestrator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492240" y="1655064"/>
            <a:ext cx="109728" cy="16459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9" name="Text 15"/>
          <p:cNvSpPr/>
          <p:nvPr/>
        </p:nvSpPr>
        <p:spPr>
          <a:xfrm>
            <a:off x="6693408" y="162763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Tool Registry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492240" y="1911096"/>
            <a:ext cx="109728" cy="16459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1" name="Text 17"/>
          <p:cNvSpPr/>
          <p:nvPr/>
        </p:nvSpPr>
        <p:spPr>
          <a:xfrm>
            <a:off x="6693408" y="188366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Memory Manager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492240" y="2167128"/>
            <a:ext cx="109728" cy="164592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23" name="Text 19"/>
          <p:cNvSpPr/>
          <p:nvPr/>
        </p:nvSpPr>
        <p:spPr>
          <a:xfrm>
            <a:off x="6693408" y="2139696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Retry / Timeout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063240" y="1709928"/>
            <a:ext cx="64008" cy="41148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25" name="Shape 21"/>
          <p:cNvSpPr/>
          <p:nvPr/>
        </p:nvSpPr>
        <p:spPr>
          <a:xfrm>
            <a:off x="365760" y="2212848"/>
            <a:ext cx="2697480" cy="86868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65760" y="2212848"/>
            <a:ext cx="2697480" cy="34747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7" name="Text 23"/>
          <p:cNvSpPr/>
          <p:nvPr/>
        </p:nvSpPr>
        <p:spPr>
          <a:xfrm>
            <a:off x="365760" y="2212848"/>
            <a:ext cx="2697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LLM Provider（OpenAI / Anthropic / 自托管）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57200" y="260604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模型调用 · Token 统计 · Fallback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3291840" y="2212848"/>
            <a:ext cx="2606040" cy="86868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3291840" y="2212848"/>
            <a:ext cx="2606040" cy="34747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1" name="Text 27"/>
          <p:cNvSpPr/>
          <p:nvPr/>
        </p:nvSpPr>
        <p:spPr>
          <a:xfrm>
            <a:off x="3291840" y="2212848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向量数据库（Pinecone / FAISS）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3383280" y="2606040"/>
            <a:ext cx="2423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长期记忆 · 语义检索 · RAG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6080760" y="2212848"/>
            <a:ext cx="2651760" cy="86868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6080760" y="2212848"/>
            <a:ext cx="2651760" cy="34747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5" name="Text 31"/>
          <p:cNvSpPr/>
          <p:nvPr/>
        </p:nvSpPr>
        <p:spPr>
          <a:xfrm>
            <a:off x="6080760" y="2212848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0E1A"/>
                </a:solidFill>
              </a:rPr>
              <a:t>外部工具 API（搜索 / 邮件 / 数据库）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6172200" y="260604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Tool Executor · Rate Limiter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3063240" y="3218688"/>
            <a:ext cx="64008" cy="32004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38" name="Shape 34"/>
          <p:cNvSpPr/>
          <p:nvPr/>
        </p:nvSpPr>
        <p:spPr>
          <a:xfrm>
            <a:off x="365760" y="3657600"/>
            <a:ext cx="8412480" cy="54864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365760" y="3657600"/>
            <a:ext cx="8412480" cy="292608"/>
          </a:xfrm>
          <a:prstGeom prst="rect">
            <a:avLst/>
          </a:prstGeom>
          <a:solidFill>
            <a:srgbClr val="00D4FF">
              <a:alpha val="20000"/>
            </a:srgbClr>
          </a:solidFill>
        </p:spPr>
      </p:sp>
      <p:sp>
        <p:nvSpPr>
          <p:cNvPr id="40" name="Text 36"/>
          <p:cNvSpPr/>
          <p:nvPr/>
        </p:nvSpPr>
        <p:spPr>
          <a:xfrm>
            <a:off x="365760" y="3657600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744"/>
                </a:solidFill>
              </a:rPr>
              <a:t>可观测性：OpenTelemetry（Trace） · Prometheus（Metrics） · Loki/ELK（Logs）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365760" y="395020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部署：Docker · Kubernetes（HPA）· Redis（短期记忆）· Postgres（审计日志）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365760" y="4343400"/>
            <a:ext cx="8412480" cy="365760"/>
          </a:xfrm>
          <a:prstGeom prst="rect">
            <a:avLst/>
          </a:prstGeom>
          <a:solidFill>
            <a:srgbClr val="F59E0B">
              <a:alpha val="12000"/>
            </a:srgbClr>
          </a:solidFill>
        </p:spPr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407408"/>
            <a:ext cx="256032" cy="256032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850392" y="438912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关键设计：LLM 无状态需传完整上下文；Token 预算决定记忆窗口；工具越权是最常见安全漏洞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7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0A0E1A"/>
                </a:solidFill>
              </a:rPr>
              <a:t>PART 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四大护栏实战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2743200" cy="54864"/>
          </a:xfrm>
          <a:prstGeom prst="rect">
            <a:avLst/>
          </a:prstGeom>
          <a:solidFill>
            <a:srgbClr val="0A0E1A"/>
          </a:solidFill>
        </p:spPr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A0E1A"/>
                </a:solidFill>
              </a:rPr>
              <a:t>Context Engineering · 反馈循环 · 熵管理 · 架构约束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护栏一：上下文工程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0" y="1828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D4FF"/>
                </a:solidFill>
              </a:rPr>
              <a:t>Context Engineering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solidFill>
            <a:srgbClr val="00D4FF">
              <a:alpha val="12000"/>
            </a:srgbClr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2412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00584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2E8F0"/>
                </a:solidFill>
              </a:rPr>
              <a:t>"活文档（Living Documentation）比静态文档更有价值。文档必须随着系统一起进化，而不是成为被遗忘的墓碑。"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0" y="135331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D4FF"/>
                </a:solidFill>
              </a:rPr>
              <a:t>— Martin Fowler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1691640"/>
            <a:ext cx="4114800" cy="150876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1691640"/>
            <a:ext cx="73152" cy="1508760"/>
          </a:xfrm>
          <a:prstGeom prst="rect">
            <a:avLst/>
          </a:prstGeom>
          <a:solidFill>
            <a:srgbClr val="00D4FF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181051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</a:rPr>
              <a:t>Hermes Agent</a:t>
            </a:r>
            <a:endParaRPr lang="en-US" sz="14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59152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2960" y="2322576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AGENTS.md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60904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22960" y="2624328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prompt_builder.py</a:t>
            </a:r>
            <a:endParaRPr lang="en-US" sz="10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62656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22960" y="2926080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FTS5 检索</a:t>
            </a:r>
            <a:endParaRPr lang="en-US" sz="10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64408"/>
            <a:ext cx="182880" cy="1828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22960" y="3227832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CLAUDE.md 模板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4663440" y="1691640"/>
            <a:ext cx="4114800" cy="150876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4663440" y="1691640"/>
            <a:ext cx="73152" cy="1508760"/>
          </a:xfrm>
          <a:prstGeom prst="rect">
            <a:avLst/>
          </a:prstGeom>
          <a:solidFill>
            <a:srgbClr val="7C3AED"/>
          </a:solidFill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783080"/>
            <a:ext cx="457200" cy="4572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394960" y="181051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OpenClaw</a:t>
            </a:r>
            <a:endParaRPr lang="en-US" sz="14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59152"/>
            <a:ext cx="182880" cy="18288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120640" y="2322576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CLAUDE.md</a:t>
            </a:r>
            <a:endParaRPr lang="en-US" sz="10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660904"/>
            <a:ext cx="182880" cy="18288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120640" y="2624328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SOUL.md</a:t>
            </a:r>
            <a:endParaRPr lang="en-US" sz="10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962656"/>
            <a:ext cx="182880" cy="18288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120640" y="2926080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retrieve 脚本</a:t>
            </a:r>
            <a:endParaRPr lang="en-US" sz="10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264408"/>
            <a:ext cx="182880" cy="18288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5120640" y="3227832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上下文注入规则</a:t>
            </a:r>
            <a:endParaRPr lang="en-US" sz="1000" dirty="0"/>
          </a:p>
        </p:txBody>
      </p:sp>
      <p:sp>
        <p:nvSpPr>
          <p:cNvPr id="34" name="Shape 21"/>
          <p:cNvSpPr/>
          <p:nvPr/>
        </p:nvSpPr>
        <p:spPr>
          <a:xfrm>
            <a:off x="365760" y="3291840"/>
            <a:ext cx="8412480" cy="1691640"/>
          </a:xfrm>
          <a:prstGeom prst="rect">
            <a:avLst/>
          </a:prstGeom>
          <a:solidFill>
            <a:srgbClr val="0D1117"/>
          </a:solidFill>
        </p:spPr>
      </p:sp>
      <p:sp>
        <p:nvSpPr>
          <p:cNvPr id="35" name="Text 22"/>
          <p:cNvSpPr/>
          <p:nvPr/>
        </p:nvSpPr>
        <p:spPr>
          <a:xfrm>
            <a:off x="502920" y="3383280"/>
            <a:ext cx="8138160" cy="1508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上下文检索示例（FTS5）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results = await db.all(`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id, content, rank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agent_memory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agent_memory MATCH 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 BY rank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LIMIT 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`, [query]);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注入到 LLM 上下文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contextBlock = results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.map(r =&gt; `[相关记忆 ${r.id}]\n${r.content}`)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.join('\n\n');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messages.unshift({ role: 'system', content: contextBlock });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护栏二：架构约束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0" y="1828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D4FF"/>
                </a:solidFill>
              </a:rPr>
              <a:t>Architecture Constraints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solidFill>
            <a:srgbClr val="10B981">
              <a:alpha val="12000"/>
            </a:srgbClr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2412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00584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</a:rPr>
              <a:t>通过规则强制执行架构边界，防止熵增腐化。系统越复杂，约束越重要。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1508760"/>
            <a:ext cx="2057400" cy="137160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1508760"/>
            <a:ext cx="2057400" cy="5029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1" name="Text 8"/>
          <p:cNvSpPr/>
          <p:nvPr/>
        </p:nvSpPr>
        <p:spPr>
          <a:xfrm>
            <a:off x="365760" y="1508760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Domain Layer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2057400"/>
            <a:ext cx="18745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核心业务逻辑，无外部依赖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965960"/>
            <a:ext cx="320040" cy="3200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542032" y="1508760"/>
            <a:ext cx="2057400" cy="137160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542032" y="1508760"/>
            <a:ext cx="2057400" cy="5029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6" name="Text 12"/>
          <p:cNvSpPr/>
          <p:nvPr/>
        </p:nvSpPr>
        <p:spPr>
          <a:xfrm>
            <a:off x="2542032" y="1508760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Application Layer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633472" y="2057400"/>
            <a:ext cx="18745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用例编排，依赖 Domain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1965960"/>
            <a:ext cx="320040" cy="32004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718304" y="1508760"/>
            <a:ext cx="2057400" cy="137160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18304" y="1508760"/>
            <a:ext cx="2057400" cy="502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1" name="Text 16"/>
          <p:cNvSpPr/>
          <p:nvPr/>
        </p:nvSpPr>
        <p:spPr>
          <a:xfrm>
            <a:off x="4718304" y="1508760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</a:rPr>
              <a:t>Infrastructure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809744" y="2057400"/>
            <a:ext cx="18745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外部系统适配器，依赖 Application</a:t>
            </a:r>
            <a:endParaRPr lang="en-US" sz="10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1965960"/>
            <a:ext cx="320040" cy="32004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894576" y="1508760"/>
            <a:ext cx="2057400" cy="137160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894576" y="1508760"/>
            <a:ext cx="2057400" cy="5029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6" name="Text 20"/>
          <p:cNvSpPr/>
          <p:nvPr/>
        </p:nvSpPr>
        <p:spPr>
          <a:xfrm>
            <a:off x="6894576" y="1508760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Presentation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986016" y="2057400"/>
            <a:ext cx="18745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API / UI，最外层，不含业务逻辑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65760" y="3017520"/>
            <a:ext cx="8412480" cy="1920240"/>
          </a:xfrm>
          <a:prstGeom prst="rect">
            <a:avLst/>
          </a:prstGeom>
          <a:solidFill>
            <a:srgbClr val="0D1117"/>
          </a:solidFill>
        </p:spPr>
      </p:sp>
      <p:sp>
        <p:nvSpPr>
          <p:cNvPr id="29" name="Text 23"/>
          <p:cNvSpPr/>
          <p:nvPr/>
        </p:nvSpPr>
        <p:spPr>
          <a:xfrm>
            <a:off x="502920" y="3108960"/>
            <a:ext cx="813816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自定义 ESLint 规则：防止 Agent 绕过架构约束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module.exports =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meta: { name: "no-infrastructure-in-domain"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create(context)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CallExpression(node)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const callee = node.callee.name || "";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禁止 Domain 层调用外部服务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(isInLayer(context, "Domain") &amp;&amp; isExternalCall(callee))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context.report({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node, message: `[Harness] Domain 层不能直接调用 ${callee}，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请通过 Application 层接口。`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});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护栏三：反馈循环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0" y="1828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D4FF"/>
                </a:solidFill>
              </a:rPr>
              <a:t>Feedback Loop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solidFill>
            <a:srgbClr val="7C3AED">
              <a:alpha val="12000"/>
            </a:srgbClr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2412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00584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</a:rPr>
              <a:t>Agent-to-Agent 互审：用另一个 Agent 独立验证结果质量，而非依赖自评。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1554480"/>
            <a:ext cx="3977640" cy="338328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" y="1645920"/>
            <a:ext cx="3977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</a:rPr>
              <a:t>OpenAI Codex 互审流程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031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21031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</a:rPr>
              <a:t>Codex A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377440" y="21031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撰写代码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49808" y="2450592"/>
            <a:ext cx="54864" cy="182880"/>
          </a:xfrm>
          <a:prstGeom prst="rect">
            <a:avLst/>
          </a:prstGeom>
          <a:solidFill>
            <a:srgbClr val="64748B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65176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2651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</a:rPr>
              <a:t>Codex B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2377440" y="26517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本地审核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49808" y="2999232"/>
            <a:ext cx="54864" cy="182880"/>
          </a:xfrm>
          <a:prstGeom prst="rect">
            <a:avLst/>
          </a:prstGeom>
          <a:solidFill>
            <a:srgbClr val="64748B"/>
          </a:solidFill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20040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05840" y="32004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</a:rPr>
              <a:t>审查反馈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2377440" y="32004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请求额外审查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" y="3547872"/>
            <a:ext cx="54864" cy="182880"/>
          </a:xfrm>
          <a:prstGeom prst="rect">
            <a:avLst/>
          </a:prstGeom>
          <a:solidFill>
            <a:srgbClr val="64748B"/>
          </a:solidFill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749040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05840" y="37490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</a:rPr>
              <a:t>循环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2377440" y="37490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直到通过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749808" y="4096512"/>
            <a:ext cx="54864" cy="182880"/>
          </a:xfrm>
          <a:prstGeom prst="rect">
            <a:avLst/>
          </a:prstGeom>
          <a:solidFill>
            <a:srgbClr val="64748B"/>
          </a:solidFill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297680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005840" y="42976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</a:rPr>
              <a:t>完成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2377440" y="42976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通过验证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4572000" y="1554480"/>
            <a:ext cx="4206240" cy="338328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Text 23"/>
          <p:cNvSpPr/>
          <p:nvPr/>
        </p:nvSpPr>
        <p:spPr>
          <a:xfrm>
            <a:off x="4572000" y="164592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</a:rPr>
              <a:t>Harness 反馈循环模型</a:t>
            </a:r>
            <a:endParaRPr lang="en-US" sz="1400" dirty="0"/>
          </a:p>
        </p:txBody>
      </p:sp>
      <p:sp>
        <p:nvSpPr>
          <p:cNvPr id="32" name="Shape 24"/>
          <p:cNvSpPr/>
          <p:nvPr/>
        </p:nvSpPr>
        <p:spPr>
          <a:xfrm>
            <a:off x="4663440" y="2103120"/>
            <a:ext cx="4023360" cy="2743200"/>
          </a:xfrm>
          <a:prstGeom prst="rect">
            <a:avLst/>
          </a:prstGeom>
          <a:solidFill>
            <a:srgbClr val="0D1117"/>
          </a:solidFill>
        </p:spPr>
      </p:sp>
      <p:sp>
        <p:nvSpPr>
          <p:cNvPr id="33" name="Text 25"/>
          <p:cNvSpPr/>
          <p:nvPr/>
        </p:nvSpPr>
        <p:spPr>
          <a:xfrm>
            <a:off x="4800600" y="2194560"/>
            <a:ext cx="374904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Harness 反馈循环实现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HarnessFeedbackLoop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run(agent, task, validator)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attempt = 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(attempt &lt; this.maxAttempts)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1. Agent 执行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result = await agent.execute(task);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2. 独立验证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validation = await validator.check(result);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3. 判断是否通过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(validation.passed)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 success: true, result, attempts: attempt + 1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4. 反馈给 Agent，附带错误上下文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task = this.refineTask(task, validation.errors);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attempt++;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 success: false, error: "Max attempts exceeded"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护栏四：熵管理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0" y="1828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D4FF"/>
                </a:solidFill>
              </a:rPr>
              <a:t>Entropy Management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solidFill>
            <a:srgbClr val="F97316">
              <a:alpha val="12000"/>
            </a:srgbClr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09728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8F0"/>
                </a:solidFill>
              </a:rPr>
              <a:t>"技术债务像高息贷款——持续小额偿还，而不是等问题严重时集中处理。"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0" y="15361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97316"/>
                </a:solidFill>
              </a:rPr>
              <a:t>— Martin Fowler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1874520"/>
            <a:ext cx="4160520" cy="301752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1874520"/>
            <a:ext cx="4160520" cy="73152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205740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不管理熵增的后果</a:t>
            </a:r>
            <a:endParaRPr lang="en-US" sz="14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3347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96112" y="2587752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软件系统逐渐混乱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6382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96112" y="3118104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文档与代码不同步</a:t>
            </a:r>
            <a:endParaRPr lang="en-US" sz="12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94176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96112" y="3648456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技术债务利息累积</a:t>
            </a:r>
            <a:endParaRPr lang="en-US" sz="12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24528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96112" y="417880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Agent 产出质量持续下降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4663440" y="1874520"/>
            <a:ext cx="4160520" cy="301752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4663440" y="1874520"/>
            <a:ext cx="4160520" cy="73152"/>
          </a:xfrm>
          <a:prstGeom prst="rect">
            <a:avLst/>
          </a:prstGeom>
          <a:solidFill>
            <a:srgbClr val="10B981"/>
          </a:solidFill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011680"/>
            <a:ext cx="457200" cy="4572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394960" y="205740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熵管理最佳实践</a:t>
            </a:r>
            <a:endParaRPr lang="en-US" sz="14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633472"/>
            <a:ext cx="256032" cy="25603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193792" y="2587752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定期小额定投还技术债务</a:t>
            </a:r>
            <a:endParaRPr lang="en-US" sz="12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163824"/>
            <a:ext cx="256032" cy="25603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193792" y="3118104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后台 Agent 定期清理过时文档</a:t>
            </a:r>
            <a:endParaRPr lang="en-US" sz="12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694176"/>
            <a:ext cx="256032" cy="256032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193792" y="3648456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提交 PR 保持文档活力</a:t>
            </a:r>
            <a:endParaRPr lang="en-US" sz="12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4224528"/>
            <a:ext cx="256032" cy="256032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5193792" y="417880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用 Harness 自动检测腐化信号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行业共识：AI Agent 工程化的六个结论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6" name="Text 4"/>
          <p:cNvSpPr/>
          <p:nvPr/>
        </p:nvSpPr>
        <p:spPr>
          <a:xfrm>
            <a:off x="502920" y="10515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</a:rPr>
              <a:t>真实数据：改变 Harness 工具格式，模型得分从 6.7% 跳到 68.3%（基础设施的力量）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4160520" cy="96012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91640"/>
            <a:ext cx="73152" cy="9601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9" name="Text 7"/>
          <p:cNvSpPr/>
          <p:nvPr/>
        </p:nvSpPr>
        <p:spPr>
          <a:xfrm>
            <a:off x="548640" y="1828800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FF"/>
                </a:solidFill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234440" y="187452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瓶颈在基础设施，不在模型智能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4160520" cy="96012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691640"/>
            <a:ext cx="73152" cy="9601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3" name="Text 11"/>
          <p:cNvSpPr/>
          <p:nvPr/>
        </p:nvSpPr>
        <p:spPr>
          <a:xfrm>
            <a:off x="4846320" y="1828800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3AED"/>
                </a:solidFill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532120" y="187452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文档必须是活的反馈循环，静态文档是坟场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4160520" cy="96012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788920"/>
            <a:ext cx="73152" cy="9601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48640" y="2926080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34440" y="297180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为了获得更高的 AI 自主性，运行时必须受到更严格的约束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788920"/>
            <a:ext cx="4160520" cy="96012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788920"/>
            <a:ext cx="73152" cy="9601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1" name="Text 19"/>
          <p:cNvSpPr/>
          <p:nvPr/>
        </p:nvSpPr>
        <p:spPr>
          <a:xfrm>
            <a:off x="4846320" y="2926080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532120" y="297180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每个模块都可以替换 — 工具可插拔、引擎可切换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886200"/>
            <a:ext cx="4160520" cy="96012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886200"/>
            <a:ext cx="73152" cy="96012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25" name="Text 23"/>
          <p:cNvSpPr/>
          <p:nvPr/>
        </p:nvSpPr>
        <p:spPr>
          <a:xfrm>
            <a:off x="548640" y="4023360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7316"/>
                </a:solidFill>
              </a:rPr>
              <a:t>05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234440" y="406908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技术债务像高息贷款 — 持续小额偿还，不等问题严重再处理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3886200"/>
            <a:ext cx="4160520" cy="960120"/>
          </a:xfrm>
          <a:prstGeom prst="rect">
            <a:avLst/>
          </a:prstGeom>
          <a:solidFill>
            <a:srgbClr val="1A2744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886200"/>
            <a:ext cx="73152" cy="96012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29" name="Text 27"/>
          <p:cNvSpPr/>
          <p:nvPr/>
        </p:nvSpPr>
        <p:spPr>
          <a:xfrm>
            <a:off x="4846320" y="4023360"/>
            <a:ext cx="6400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</a:rPr>
              <a:t>06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532120" y="406908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错误即反馈 — Harness 是 Agent 进化的核心机制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A2744">
              <a:alpha val="60000"/>
            </a:srgbClr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45720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2377440"/>
            <a:ext cx="3840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核心要点回顾</a:t>
            </a:r>
            <a:endParaRPr lang="en-US" sz="2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971800"/>
            <a:ext cx="256032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3232" y="2926080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Harness Engineering：错误即反馈，系统进化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319272"/>
            <a:ext cx="256032" cy="2560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3232" y="3273552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Agent = LLM + Tools + Planning + Memory</a:t>
            </a:r>
            <a:endParaRPr lang="en-US" sz="1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66744"/>
            <a:ext cx="256032" cy="25603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13232" y="3621024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ReAct / Plan-Execute / Self-Ask / Hive-Mind</a:t>
            </a:r>
            <a:endParaRPr lang="en-US" sz="11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014216"/>
            <a:ext cx="256032" cy="25603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13232" y="3968496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工具：JSON Schema + OpenAI + MCP</a:t>
            </a:r>
            <a:endParaRPr lang="en-US" sz="11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361688"/>
            <a:ext cx="256032" cy="25603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13232" y="4315968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记忆：上下文 → 短期 → 长期（向量）</a:t>
            </a:r>
            <a:endParaRPr lang="en-US" sz="11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709160"/>
            <a:ext cx="256032" cy="256032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713232" y="4663440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四大护栏：Context · Constraint · Feedback · Entropy</a:t>
            </a:r>
            <a:endParaRPr lang="en-US" sz="1100" dirty="0"/>
          </a:p>
        </p:txBody>
      </p:sp>
      <p:sp>
        <p:nvSpPr>
          <p:cNvPr id="17" name="Shape 8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0D4FF">
              <a:alpha val="12000"/>
            </a:srgbClr>
          </a:solidFill>
        </p:spPr>
      </p:sp>
      <p:sp>
        <p:nvSpPr>
          <p:cNvPr id="18" name="Text 9"/>
          <p:cNvSpPr/>
          <p:nvPr/>
        </p:nvSpPr>
        <p:spPr>
          <a:xfrm>
            <a:off x="4846320" y="36576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进阶学习路径</a:t>
            </a:r>
            <a:endParaRPr lang="en-US" sz="1800" dirty="0"/>
          </a:p>
        </p:txBody>
      </p:sp>
      <p:sp>
        <p:nvSpPr>
          <p:cNvPr id="19" name="Shape 10"/>
          <p:cNvSpPr/>
          <p:nvPr/>
        </p:nvSpPr>
        <p:spPr>
          <a:xfrm>
            <a:off x="4846320" y="914400"/>
            <a:ext cx="3840480" cy="713232"/>
          </a:xfrm>
          <a:prstGeom prst="rect">
            <a:avLst/>
          </a:prstGeom>
          <a:solidFill>
            <a:srgbClr val="FFFFFF">
              <a:alpha val="12000"/>
            </a:srgbClr>
          </a:solidFill>
        </p:spPr>
      </p:sp>
      <p:sp>
        <p:nvSpPr>
          <p:cNvPr id="20" name="Text 11"/>
          <p:cNvSpPr/>
          <p:nvPr/>
        </p:nvSpPr>
        <p:spPr>
          <a:xfrm>
            <a:off x="4983480" y="96012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</a:rPr>
              <a:t>1. 基础 Agent</a:t>
            </a:r>
            <a:endParaRPr lang="en-US" sz="1200" dirty="0"/>
          </a:p>
        </p:txBody>
      </p:sp>
      <p:sp>
        <p:nvSpPr>
          <p:cNvPr id="21" name="Text 12"/>
          <p:cNvSpPr/>
          <p:nvPr/>
        </p:nvSpPr>
        <p:spPr>
          <a:xfrm>
            <a:off x="4983480" y="126187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E1A"/>
                </a:solidFill>
              </a:rPr>
              <a:t>用 LangChain / LlamaIndex 实现第一个 Agent</a:t>
            </a:r>
            <a:endParaRPr lang="en-US" sz="1000" dirty="0"/>
          </a:p>
        </p:txBody>
      </p:sp>
      <p:sp>
        <p:nvSpPr>
          <p:cNvPr id="22" name="Shape 13"/>
          <p:cNvSpPr/>
          <p:nvPr/>
        </p:nvSpPr>
        <p:spPr>
          <a:xfrm>
            <a:off x="4846320" y="1719072"/>
            <a:ext cx="3840480" cy="713232"/>
          </a:xfrm>
          <a:prstGeom prst="rect">
            <a:avLst/>
          </a:prstGeom>
          <a:solidFill>
            <a:srgbClr val="FFFFFF">
              <a:alpha val="12000"/>
            </a:srgbClr>
          </a:solidFill>
        </p:spPr>
      </p:sp>
      <p:sp>
        <p:nvSpPr>
          <p:cNvPr id="23" name="Text 14"/>
          <p:cNvSpPr/>
          <p:nvPr/>
        </p:nvSpPr>
        <p:spPr>
          <a:xfrm>
            <a:off x="4983480" y="176479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</a:rPr>
              <a:t>2. 工具深度</a:t>
            </a:r>
            <a:endParaRPr lang="en-US" sz="1200" dirty="0"/>
          </a:p>
        </p:txBody>
      </p:sp>
      <p:sp>
        <p:nvSpPr>
          <p:cNvPr id="24" name="Text 15"/>
          <p:cNvSpPr/>
          <p:nvPr/>
        </p:nvSpPr>
        <p:spPr>
          <a:xfrm>
            <a:off x="4983480" y="2066544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E1A"/>
                </a:solidFill>
              </a:rPr>
              <a:t>实现 MCP Server，支持更多数据源</a:t>
            </a:r>
            <a:endParaRPr lang="en-US" sz="1000" dirty="0"/>
          </a:p>
        </p:txBody>
      </p:sp>
      <p:sp>
        <p:nvSpPr>
          <p:cNvPr id="25" name="Shape 16"/>
          <p:cNvSpPr/>
          <p:nvPr/>
        </p:nvSpPr>
        <p:spPr>
          <a:xfrm>
            <a:off x="4846320" y="2523744"/>
            <a:ext cx="3840480" cy="713232"/>
          </a:xfrm>
          <a:prstGeom prst="rect">
            <a:avLst/>
          </a:prstGeom>
          <a:solidFill>
            <a:srgbClr val="FFFFFF">
              <a:alpha val="12000"/>
            </a:srgbClr>
          </a:solidFill>
        </p:spPr>
      </p:sp>
      <p:sp>
        <p:nvSpPr>
          <p:cNvPr id="26" name="Text 17"/>
          <p:cNvSpPr/>
          <p:nvPr/>
        </p:nvSpPr>
        <p:spPr>
          <a:xfrm>
            <a:off x="4983480" y="2569464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</a:rPr>
              <a:t>3. 多 Agent 框架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4983480" y="2871216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E1A"/>
                </a:solidFill>
              </a:rPr>
              <a:t>CrewAI、AutoGen、Swarm 框架实战</a:t>
            </a:r>
            <a:endParaRPr lang="en-US" sz="1000" dirty="0"/>
          </a:p>
        </p:txBody>
      </p:sp>
      <p:sp>
        <p:nvSpPr>
          <p:cNvPr id="28" name="Shape 19"/>
          <p:cNvSpPr/>
          <p:nvPr/>
        </p:nvSpPr>
        <p:spPr>
          <a:xfrm>
            <a:off x="4846320" y="3328416"/>
            <a:ext cx="3840480" cy="713232"/>
          </a:xfrm>
          <a:prstGeom prst="rect">
            <a:avLst/>
          </a:prstGeom>
          <a:solidFill>
            <a:srgbClr val="FFFFFF">
              <a:alpha val="12000"/>
            </a:srgbClr>
          </a:solidFill>
        </p:spPr>
      </p:sp>
      <p:sp>
        <p:nvSpPr>
          <p:cNvPr id="29" name="Text 20"/>
          <p:cNvSpPr/>
          <p:nvPr/>
        </p:nvSpPr>
        <p:spPr>
          <a:xfrm>
            <a:off x="4983480" y="3374136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</a:rPr>
              <a:t>4. 生产部署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4983480" y="367588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E1A"/>
                </a:solidFill>
              </a:rPr>
              <a:t>LangServe / vLLM / 量化模型自托管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4846320" y="4133088"/>
            <a:ext cx="3840480" cy="713232"/>
          </a:xfrm>
          <a:prstGeom prst="rect">
            <a:avLst/>
          </a:prstGeom>
          <a:solidFill>
            <a:srgbClr val="FFFFFF">
              <a:alpha val="12000"/>
            </a:srgbClr>
          </a:solidFill>
        </p:spPr>
      </p:sp>
      <p:sp>
        <p:nvSpPr>
          <p:cNvPr id="32" name="Text 23"/>
          <p:cNvSpPr/>
          <p:nvPr/>
        </p:nvSpPr>
        <p:spPr>
          <a:xfrm>
            <a:off x="4983480" y="417880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</a:rPr>
              <a:t>5. Agent 安全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4983480" y="448056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E1A"/>
                </a:solidFill>
              </a:rPr>
              <a:t>Prompt 注入检测、工具权限最小化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100584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动手实践吧！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2E8F0"/>
                </a:solidFill>
              </a:rPr>
              <a:t>从最简单的 ReAct Agent 开始，逐步添加 Harness 四大护栏，迈向生产级系统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200400" y="4206240"/>
            <a:ext cx="2743200" cy="54864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6" name="Text 3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FF"/>
                </a:solidFill>
              </a:rPr>
              <a:t>Q &amp; A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11835</Words>
  <Application>WPS 演示</Application>
  <PresentationFormat>On-screen Show (16:9)</PresentationFormat>
  <Paragraphs>885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7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Calibri</vt:lpstr>
      <vt:lpstr>Helvetica Neue</vt:lpstr>
      <vt:lpstr>宋体</vt:lpstr>
      <vt:lpstr>汉仪书宋二KW</vt:lpstr>
      <vt:lpstr>Arial Unicode MS</vt:lpstr>
      <vt:lpstr>等线</vt:lpstr>
      <vt:lpstr>汉仪中等线KW</vt:lpstr>
      <vt:lpstr>Consolas</vt:lpstr>
      <vt:lpstr>Consolas</vt:lpstr>
      <vt:lpstr>Consolas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工程化实战</dc:title>
  <dc:creator>TJU AI Agent Workshop 2026</dc:creator>
  <dc:subject>PptxGenJS Presentation</dc:subject>
  <cp:lastModifiedBy>冬来</cp:lastModifiedBy>
  <cp:revision>3</cp:revision>
  <dcterms:created xsi:type="dcterms:W3CDTF">2026-05-19T06:01:39Z</dcterms:created>
  <dcterms:modified xsi:type="dcterms:W3CDTF">2026-05-19T06:01:39Z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7002BE62B6A5AFE3A2C40B6A59713CD3_42</vt:lpwstr>
  </property>
</Properties>
</file>