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0"/>
            <a:ext cx="9144000" cy="14859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驾驭工程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D4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Harness Engineering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Harness 架构、护栏、评估与实现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D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面向软件学院本科生/研究生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课程大纲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D4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Agenda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7315200" cy="3200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核心概念定义</a:t>
            </a:r>
            <a:endParaRPr lang="en-US" sz="22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AI Harness 架构与实现</a:t>
            </a:r>
            <a:endParaRPr lang="en-US" sz="22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多步骤任务编排与工具调用</a:t>
            </a:r>
            <a:endParaRPr lang="en-US" sz="22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输出质量控制与验证</a:t>
            </a:r>
            <a:endParaRPr lang="en-US" sz="22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 实际代码案例</a:t>
            </a:r>
            <a:endParaRPr lang="en-US" sz="22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 教学场景化案例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什么是 Harness Engineering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11480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73152" cy="347472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6" name="Text 4"/>
          <p:cNvSpPr/>
          <p:nvPr/>
        </p:nvSpPr>
        <p:spPr>
          <a:xfrm>
            <a:off x="685800" y="1325880"/>
            <a:ext cx="3657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472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驾驭工程定义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737360"/>
            <a:ext cx="36576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围绕大语言模型或 AI Agent 构建可控执行外壳的系统性方法，覆盖任务编排、工具路由、状态管理、权限护栏、评估、追踪与人工接管。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73152" cy="3474720"/>
          </a:xfrm>
          <a:prstGeom prst="rect">
            <a:avLst/>
          </a:prstGeom>
          <a:solidFill>
            <a:srgbClr val="00D4FF"/>
          </a:solidFill>
        </p:spPr>
      </p:sp>
      <p:sp>
        <p:nvSpPr>
          <p:cNvPr id="10" name="Text 8"/>
          <p:cNvSpPr/>
          <p:nvPr/>
        </p:nvSpPr>
        <p:spPr>
          <a:xfrm>
            <a:off x="4983480" y="1325880"/>
            <a:ext cx="34747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472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核心框架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120640" y="182880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</p:spPr>
      </p:sp>
      <p:sp>
        <p:nvSpPr>
          <p:cNvPr id="12" name="Text 10"/>
          <p:cNvSpPr/>
          <p:nvPr/>
        </p:nvSpPr>
        <p:spPr>
          <a:xfrm>
            <a:off x="5120640" y="1828800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用户目标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80760" y="2331720"/>
            <a:ext cx="91440" cy="182880"/>
          </a:xfrm>
          <a:prstGeom prst="rect">
            <a:avLst/>
          </a:prstGeom>
          <a:solidFill>
            <a:srgbClr val="00D4FF"/>
          </a:solidFill>
        </p:spPr>
      </p:sp>
      <p:sp>
        <p:nvSpPr>
          <p:cNvPr id="14" name="Shape 12"/>
          <p:cNvSpPr/>
          <p:nvPr/>
        </p:nvSpPr>
        <p:spPr>
          <a:xfrm>
            <a:off x="5120640" y="251460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</p:spPr>
      </p:sp>
      <p:sp>
        <p:nvSpPr>
          <p:cNvPr id="15" name="Text 13"/>
          <p:cNvSpPr/>
          <p:nvPr/>
        </p:nvSpPr>
        <p:spPr>
          <a:xfrm>
            <a:off x="5120640" y="2514600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Harness Core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80760" y="3017520"/>
            <a:ext cx="91440" cy="182880"/>
          </a:xfrm>
          <a:prstGeom prst="rect">
            <a:avLst/>
          </a:prstGeom>
          <a:solidFill>
            <a:srgbClr val="00D4FF"/>
          </a:solidFill>
        </p:spPr>
      </p:sp>
      <p:sp>
        <p:nvSpPr>
          <p:cNvPr id="17" name="Shape 15"/>
          <p:cNvSpPr/>
          <p:nvPr/>
        </p:nvSpPr>
        <p:spPr>
          <a:xfrm>
            <a:off x="5120640" y="320040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</p:spPr>
      </p:sp>
      <p:sp>
        <p:nvSpPr>
          <p:cNvPr id="18" name="Text 16"/>
          <p:cNvSpPr/>
          <p:nvPr/>
        </p:nvSpPr>
        <p:spPr>
          <a:xfrm>
            <a:off x="5120640" y="3200400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执行器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80760" y="3703320"/>
            <a:ext cx="91440" cy="182880"/>
          </a:xfrm>
          <a:prstGeom prst="rect">
            <a:avLst/>
          </a:prstGeom>
          <a:solidFill>
            <a:srgbClr val="00D4FF"/>
          </a:solidFill>
        </p:spPr>
      </p:sp>
      <p:sp>
        <p:nvSpPr>
          <p:cNvPr id="20" name="Shape 18"/>
          <p:cNvSpPr/>
          <p:nvPr/>
        </p:nvSpPr>
        <p:spPr>
          <a:xfrm>
            <a:off x="5120640" y="388620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</p:spPr>
      </p:sp>
      <p:sp>
        <p:nvSpPr>
          <p:cNvPr id="21" name="Text 19"/>
          <p:cNvSpPr/>
          <p:nvPr/>
        </p:nvSpPr>
        <p:spPr>
          <a:xfrm>
            <a:off x="5120640" y="3886200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反馈循环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Harness 核心要素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15544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651760" cy="4572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6" name="Text 4"/>
          <p:cNvSpPr/>
          <p:nvPr/>
        </p:nvSpPr>
        <p:spPr>
          <a:xfrm>
            <a:off x="457200" y="118872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规划器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Planner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24688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将复杂任务分解为可执行的子任务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651760" cy="15544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651760" cy="4572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11" name="Text 9"/>
          <p:cNvSpPr/>
          <p:nvPr/>
        </p:nvSpPr>
        <p:spPr>
          <a:xfrm>
            <a:off x="3291840" y="118872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91840" y="1691640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Memory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83280" y="2057400"/>
            <a:ext cx="24688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存储历史交互、知识和中间状态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188720"/>
            <a:ext cx="2651760" cy="15544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188720"/>
            <a:ext cx="2651760" cy="4572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16" name="Text 14"/>
          <p:cNvSpPr/>
          <p:nvPr/>
        </p:nvSpPr>
        <p:spPr>
          <a:xfrm>
            <a:off x="6126480" y="118872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691640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Tools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2057400"/>
            <a:ext cx="24688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调用外部API、函数或服务的能力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51760" cy="15544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017520"/>
            <a:ext cx="2651760" cy="4572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21" name="Text 19"/>
          <p:cNvSpPr/>
          <p:nvPr/>
        </p:nvSpPr>
        <p:spPr>
          <a:xfrm>
            <a:off x="457200" y="301752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推理引擎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3520440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Reasoning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886200"/>
            <a:ext cx="24688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ReAct、CoT 等推理模式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91840" y="3017520"/>
            <a:ext cx="2651760" cy="15544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91840" y="3017520"/>
            <a:ext cx="2651760" cy="4572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26" name="Text 24"/>
          <p:cNvSpPr/>
          <p:nvPr/>
        </p:nvSpPr>
        <p:spPr>
          <a:xfrm>
            <a:off x="3291840" y="301752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执行器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291840" y="3520440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Executor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83280" y="3886200"/>
            <a:ext cx="24688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协调任务执行、处理异常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3017520"/>
            <a:ext cx="2651760" cy="15544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26480" y="3017520"/>
            <a:ext cx="2651760" cy="4572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31" name="Text 29"/>
          <p:cNvSpPr/>
          <p:nvPr/>
        </p:nvSpPr>
        <p:spPr>
          <a:xfrm>
            <a:off x="6126480" y="301752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验证器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126480" y="3520440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Validator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17920" y="3886200"/>
            <a:ext cx="24688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检验输出质量、确保符合预期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Harness vs 传统程序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457200"/>
          </a:xfrm>
          <a:prstGeom prst="rect">
            <a:avLst/>
          </a:prstGeom>
          <a:solidFill>
            <a:srgbClr val="64748B"/>
          </a:solidFill>
        </p:spPr>
      </p:sp>
      <p:sp>
        <p:nvSpPr>
          <p:cNvPr id="4" name="Text 2"/>
          <p:cNvSpPr/>
          <p:nvPr/>
        </p:nvSpPr>
        <p:spPr>
          <a:xfrm>
            <a:off x="457200" y="1097280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传统程序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188720" cy="640080"/>
          </a:xfrm>
          <a:prstGeom prst="roundRect">
            <a:avLst>
              <a:gd name="adj" fmla="val 7143"/>
            </a:avLst>
          </a:prstGeom>
          <a:solidFill>
            <a:srgbClr val="64748B"/>
          </a:solidFill>
        </p:spPr>
      </p:sp>
      <p:sp>
        <p:nvSpPr>
          <p:cNvPr id="6" name="Text 4"/>
          <p:cNvSpPr/>
          <p:nvPr/>
        </p:nvSpPr>
        <p:spPr>
          <a:xfrm>
            <a:off x="640080" y="1737360"/>
            <a:ext cx="1188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用户输入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783080" y="1737360"/>
            <a:ext cx="2743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D4FF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011680" y="1737360"/>
            <a:ext cx="1188720" cy="640080"/>
          </a:xfrm>
          <a:prstGeom prst="roundRect">
            <a:avLst>
              <a:gd name="adj" fmla="val 7143"/>
            </a:avLst>
          </a:prstGeom>
          <a:solidFill>
            <a:srgbClr val="64748B"/>
          </a:solidFill>
        </p:spPr>
      </p:sp>
      <p:sp>
        <p:nvSpPr>
          <p:cNvPr id="9" name="Text 7"/>
          <p:cNvSpPr/>
          <p:nvPr/>
        </p:nvSpPr>
        <p:spPr>
          <a:xfrm>
            <a:off x="2011680" y="1737360"/>
            <a:ext cx="1188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固定规则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54680" y="1737360"/>
            <a:ext cx="2743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D4FF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737360"/>
            <a:ext cx="1188720" cy="640080"/>
          </a:xfrm>
          <a:prstGeom prst="roundRect">
            <a:avLst>
              <a:gd name="adj" fmla="val 7143"/>
            </a:avLst>
          </a:prstGeom>
          <a:solidFill>
            <a:srgbClr val="64748B"/>
          </a:solidFill>
        </p:spPr>
      </p:sp>
      <p:sp>
        <p:nvSpPr>
          <p:cNvPr id="12" name="Text 10"/>
          <p:cNvSpPr/>
          <p:nvPr/>
        </p:nvSpPr>
        <p:spPr>
          <a:xfrm>
            <a:off x="3383280" y="1737360"/>
            <a:ext cx="11887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确定性输出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560320"/>
            <a:ext cx="3931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输入确定 → 规则固定 → 输出确定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097280"/>
            <a:ext cx="3931920" cy="457200"/>
          </a:xfrm>
          <a:prstGeom prst="rect">
            <a:avLst/>
          </a:prstGeom>
          <a:solidFill>
            <a:srgbClr val="00D4FF"/>
          </a:solidFill>
        </p:spPr>
      </p:sp>
      <p:sp>
        <p:nvSpPr>
          <p:cNvPr id="15" name="Text 13"/>
          <p:cNvSpPr/>
          <p:nvPr/>
        </p:nvSpPr>
        <p:spPr>
          <a:xfrm>
            <a:off x="4754880" y="1097280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Harness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937760" y="1737360"/>
            <a:ext cx="1097280" cy="548640"/>
          </a:xfrm>
          <a:prstGeom prst="roundRect">
            <a:avLst>
              <a:gd name="adj" fmla="val 8333"/>
            </a:avLst>
          </a:prstGeom>
          <a:solidFill>
            <a:srgbClr val="4472C4"/>
          </a:solidFill>
        </p:spPr>
      </p:sp>
      <p:sp>
        <p:nvSpPr>
          <p:cNvPr id="17" name="Text 15"/>
          <p:cNvSpPr/>
          <p:nvPr/>
        </p:nvSpPr>
        <p:spPr>
          <a:xfrm>
            <a:off x="4937760" y="1737360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理解意图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89320" y="1737360"/>
            <a:ext cx="228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D4FF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72200" y="1737360"/>
            <a:ext cx="1097280" cy="548640"/>
          </a:xfrm>
          <a:prstGeom prst="roundRect">
            <a:avLst>
              <a:gd name="adj" fmla="val 8333"/>
            </a:avLst>
          </a:prstGeom>
          <a:solidFill>
            <a:srgbClr val="4472C4"/>
          </a:solidFill>
        </p:spPr>
      </p:sp>
      <p:sp>
        <p:nvSpPr>
          <p:cNvPr id="20" name="Text 18"/>
          <p:cNvSpPr/>
          <p:nvPr/>
        </p:nvSpPr>
        <p:spPr>
          <a:xfrm>
            <a:off x="6172200" y="1737360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规划步骤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223760" y="1737360"/>
            <a:ext cx="228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D4FF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406640" y="1737360"/>
            <a:ext cx="1097280" cy="548640"/>
          </a:xfrm>
          <a:prstGeom prst="roundRect">
            <a:avLst>
              <a:gd name="adj" fmla="val 8333"/>
            </a:avLst>
          </a:prstGeom>
          <a:solidFill>
            <a:srgbClr val="4472C4"/>
          </a:solidFill>
        </p:spPr>
      </p:sp>
      <p:sp>
        <p:nvSpPr>
          <p:cNvPr id="23" name="Text 21"/>
          <p:cNvSpPr/>
          <p:nvPr/>
        </p:nvSpPr>
        <p:spPr>
          <a:xfrm>
            <a:off x="7406640" y="1737360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工具执行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37760" y="2468880"/>
            <a:ext cx="1097280" cy="548640"/>
          </a:xfrm>
          <a:prstGeom prst="roundRect">
            <a:avLst>
              <a:gd name="adj" fmla="val 8333"/>
            </a:avLst>
          </a:prstGeom>
          <a:solidFill>
            <a:srgbClr val="4472C4"/>
          </a:solidFill>
        </p:spPr>
      </p:sp>
      <p:sp>
        <p:nvSpPr>
          <p:cNvPr id="25" name="Text 23"/>
          <p:cNvSpPr/>
          <p:nvPr/>
        </p:nvSpPr>
        <p:spPr>
          <a:xfrm>
            <a:off x="4937760" y="2468880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观察结果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89320" y="2468880"/>
            <a:ext cx="228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D4FF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72200" y="2468880"/>
            <a:ext cx="1097280" cy="548640"/>
          </a:xfrm>
          <a:prstGeom prst="roundRect">
            <a:avLst>
              <a:gd name="adj" fmla="val 8333"/>
            </a:avLst>
          </a:prstGeom>
          <a:solidFill>
            <a:srgbClr val="4472C4"/>
          </a:solidFill>
        </p:spPr>
      </p:sp>
      <p:sp>
        <p:nvSpPr>
          <p:cNvPr id="28" name="Text 26"/>
          <p:cNvSpPr/>
          <p:nvPr/>
        </p:nvSpPr>
        <p:spPr>
          <a:xfrm>
            <a:off x="6172200" y="2468880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反思调整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54880" y="3291840"/>
            <a:ext cx="3931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D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目标驱动 → 受控执行 → 可审计输出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solidFill>
            <a:srgbClr val="2A3A7A"/>
          </a:solidFill>
        </p:spPr>
      </p:sp>
      <p:sp>
        <p:nvSpPr>
          <p:cNvPr id="31" name="Text 29"/>
          <p:cNvSpPr/>
          <p:nvPr/>
        </p:nvSpPr>
        <p:spPr>
          <a:xfrm>
            <a:off x="640080" y="4114800"/>
            <a:ext cx="78638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核心区别：Harness 不只追求自主执行，更强调权限控制、评估、追踪和失败恢复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ReAct 模式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0" y="228600"/>
            <a:ext cx="1828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D4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Reasoning + Acting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2103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4472C4"/>
          </a:solidFill>
        </p:spPr>
      </p:sp>
      <p:sp>
        <p:nvSpPr>
          <p:cNvPr id="6" name="Text 4"/>
          <p:cNvSpPr/>
          <p:nvPr/>
        </p:nvSpPr>
        <p:spPr>
          <a:xfrm>
            <a:off x="914400" y="210312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思考 Think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560320" y="2103120"/>
            <a:ext cx="457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0" y="2103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00D4FF"/>
          </a:solidFill>
        </p:spPr>
      </p:sp>
      <p:sp>
        <p:nvSpPr>
          <p:cNvPr id="9" name="Text 7"/>
          <p:cNvSpPr/>
          <p:nvPr/>
        </p:nvSpPr>
        <p:spPr>
          <a:xfrm>
            <a:off x="3200400" y="210312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 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2103120"/>
            <a:ext cx="457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0" y="2103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2C5F2D"/>
          </a:solidFill>
        </p:spPr>
      </p:sp>
      <p:sp>
        <p:nvSpPr>
          <p:cNvPr id="12" name="Text 10"/>
          <p:cNvSpPr/>
          <p:nvPr/>
        </p:nvSpPr>
        <p:spPr>
          <a:xfrm>
            <a:off x="5486400" y="210312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观察 Observe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32320" y="2103120"/>
            <a:ext cx="457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0" y="2103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64748B"/>
          </a:solidFill>
        </p:spPr>
      </p:sp>
      <p:sp>
        <p:nvSpPr>
          <p:cNvPr id="15" name="Text 13"/>
          <p:cNvSpPr/>
          <p:nvPr/>
        </p:nvSpPr>
        <p:spPr>
          <a:xfrm>
            <a:off x="7315200" y="210312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思考...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595360" y="2377440"/>
            <a:ext cx="91440" cy="91440"/>
          </a:xfrm>
          <a:prstGeom prst="rect">
            <a:avLst/>
          </a:prstGeom>
          <a:solidFill>
            <a:srgbClr val="64748B"/>
          </a:solidFill>
        </p:spPr>
      </p:sp>
      <p:sp>
        <p:nvSpPr>
          <p:cNvPr id="17" name="Shape 15"/>
          <p:cNvSpPr/>
          <p:nvPr/>
        </p:nvSpPr>
        <p:spPr>
          <a:xfrm>
            <a:off x="457200" y="2926080"/>
            <a:ext cx="8229600" cy="20116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306324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472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ReAct 关键优势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3474720"/>
            <a:ext cx="7863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推理过程透明可见 — 每一步都有思考记录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能够处理多步骤复杂任务 — 通过循环迭代逐步求解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可以根据观察结果调整后续行动 — 动态适应环境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适用于动态环境、交互式任务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Plan-and-Execute 模式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22860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50292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6" name="Text 4"/>
          <p:cNvSpPr/>
          <p:nvPr/>
        </p:nvSpPr>
        <p:spPr>
          <a:xfrm>
            <a:off x="457200" y="1188720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规划阶段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356616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分析任务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生成执行计划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依赖关系分析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优先级排序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22860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3931920" cy="502920"/>
          </a:xfrm>
          <a:prstGeom prst="rect">
            <a:avLst/>
          </a:prstGeom>
          <a:solidFill>
            <a:srgbClr val="00D4FF"/>
          </a:solidFill>
        </p:spPr>
      </p:sp>
      <p:sp>
        <p:nvSpPr>
          <p:cNvPr id="10" name="Text 8"/>
          <p:cNvSpPr/>
          <p:nvPr/>
        </p:nvSpPr>
        <p:spPr>
          <a:xfrm>
            <a:off x="4754880" y="1188720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执行阶段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937760" y="1828800"/>
            <a:ext cx="356616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按计划逐步执行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验证每步结果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动态调整路径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异常处理与回退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0" y="2011680"/>
            <a:ext cx="9144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64748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VS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1280160"/>
          </a:xfrm>
          <a:prstGeom prst="rect">
            <a:avLst/>
          </a:prstGeom>
          <a:solidFill>
            <a:srgbClr val="F0F4FA"/>
          </a:solidFill>
        </p:spPr>
      </p:sp>
      <p:sp>
        <p:nvSpPr>
          <p:cNvPr id="14" name="Text 12"/>
          <p:cNvSpPr/>
          <p:nvPr/>
        </p:nvSpPr>
        <p:spPr>
          <a:xfrm>
            <a:off x="640080" y="3794760"/>
            <a:ext cx="78638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适用场景：复杂但可预测的任务 — 需要提前规划的长流程工作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优点：计划可控、易于调试  |  缺点：缺乏灵活性，计划可能过时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架构对比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457200" y="1188720"/>
          <a:ext cx="8229600" cy="2560320"/>
        </p:xfrm>
        <a:graphic>
          <a:graphicData uri="http://schemas.openxmlformats.org/drawingml/2006/table">
            <a:tbl>
              <a:tblPr/>
              <a:tblGrid>
                <a:gridCol w="2011680"/>
                <a:gridCol w="2286000"/>
                <a:gridCol w="2011680"/>
                <a:gridCol w="1920240"/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模式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适用场景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优点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缺点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ReAct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动态环境、交互式任务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灵活、可自适应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计算开销大、循环次数不固定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Plan-and-Execute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复杂但可预测任务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计划可控、易于调试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缺乏灵活性、计划可能过时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混合模式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复杂综合任务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结合两者优点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实现复杂度高</a:t>
                      </a:r>
                      <a:endParaRPr lang="en-US" sz="1200" dirty="0">
                        <a:latin typeface="微软雅黑" pitchFamily="34" charset="0"/>
                        <a:ea typeface="微软雅黑" pitchFamily="34" charset="0"/>
                        <a:cs typeface="微软雅黑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工具调用系统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solidFill>
            <a:srgbClr val="EEF2FF"/>
          </a:solidFill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Tool = Harness 连接外部系统的受控接口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2024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286000"/>
            <a:ext cx="1920240" cy="41148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8" name="Text 6"/>
          <p:cNvSpPr/>
          <p:nvPr/>
        </p:nvSpPr>
        <p:spPr>
          <a:xfrm>
            <a:off x="457200" y="228600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Tool 定义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173736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名称、描述、参数 schema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331720" y="2743200"/>
            <a:ext cx="3657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651760" y="2286000"/>
            <a:ext cx="192024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51760" y="2286000"/>
            <a:ext cx="1920240" cy="411480"/>
          </a:xfrm>
          <a:prstGeom prst="rect">
            <a:avLst/>
          </a:prstGeom>
          <a:solidFill>
            <a:srgbClr val="00D4FF"/>
          </a:solidFill>
        </p:spPr>
      </p:sp>
      <p:sp>
        <p:nvSpPr>
          <p:cNvPr id="13" name="Text 11"/>
          <p:cNvSpPr/>
          <p:nvPr/>
        </p:nvSpPr>
        <p:spPr>
          <a:xfrm>
            <a:off x="2651760" y="228600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Tool 注册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43200" y="2788920"/>
            <a:ext cx="173736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ToolRegistry 管理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2743200"/>
            <a:ext cx="3657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846320" y="2286000"/>
            <a:ext cx="192024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2286000"/>
            <a:ext cx="1920240" cy="41148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18" name="Text 16"/>
          <p:cNvSpPr/>
          <p:nvPr/>
        </p:nvSpPr>
        <p:spPr>
          <a:xfrm>
            <a:off x="4846320" y="228600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Tool 调用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2788920"/>
            <a:ext cx="173736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解析参数、执行逻辑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20840" y="2743200"/>
            <a:ext cx="3657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4748B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7040880" y="2286000"/>
            <a:ext cx="192024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40880" y="2286000"/>
            <a:ext cx="1920240" cy="411480"/>
          </a:xfrm>
          <a:prstGeom prst="rect">
            <a:avLst/>
          </a:prstGeom>
          <a:solidFill>
            <a:srgbClr val="00D4FF"/>
          </a:solidFill>
        </p:spPr>
      </p:sp>
      <p:sp>
        <p:nvSpPr>
          <p:cNvPr id="23" name="Text 21"/>
          <p:cNvSpPr/>
          <p:nvPr/>
        </p:nvSpPr>
        <p:spPr>
          <a:xfrm>
            <a:off x="7040880" y="228600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结果返回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32320" y="2788920"/>
            <a:ext cx="173736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ToolResult 封装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931920"/>
            <a:ext cx="822960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示例工具：calculator | web_search | read_file | write_file | 数据库查询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输出质量控制与验证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5176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73152" cy="146304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6" name="Text 4"/>
          <p:cNvSpPr/>
          <p:nvPr/>
        </p:nvSpPr>
        <p:spPr>
          <a:xfrm>
            <a:off x="640080" y="1325880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JSONFormatValidator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286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检验 JSON 格式与必需键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65176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188720"/>
            <a:ext cx="73152" cy="146304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10" name="Text 8"/>
          <p:cNvSpPr/>
          <p:nvPr/>
        </p:nvSpPr>
        <p:spPr>
          <a:xfrm>
            <a:off x="3474720" y="1325880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LengthValidator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1828800"/>
            <a:ext cx="2286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字数长度范围检查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265176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188720"/>
            <a:ext cx="73152" cy="146304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14" name="Text 12"/>
          <p:cNvSpPr/>
          <p:nvPr/>
        </p:nvSpPr>
        <p:spPr>
          <a:xfrm>
            <a:off x="6309360" y="1325880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KeywordValidator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09360" y="1828800"/>
            <a:ext cx="2286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关键词存在性检查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65176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926080"/>
            <a:ext cx="73152" cy="146304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18" name="Text 16"/>
          <p:cNvSpPr/>
          <p:nvPr/>
        </p:nvSpPr>
        <p:spPr>
          <a:xfrm>
            <a:off x="640080" y="3063240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RegexValidator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566160"/>
            <a:ext cx="2286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正则表达式匹配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91840" y="2926080"/>
            <a:ext cx="265176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91840" y="2926080"/>
            <a:ext cx="73152" cy="146304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22" name="Text 20"/>
          <p:cNvSpPr/>
          <p:nvPr/>
        </p:nvSpPr>
        <p:spPr>
          <a:xfrm>
            <a:off x="3474720" y="3063240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LLM-Assisted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74720" y="3566160"/>
            <a:ext cx="22860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辅助语义验证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0" y="2926080"/>
            <a:ext cx="2743200" cy="1463040"/>
          </a:xfrm>
          <a:prstGeom prst="rect">
            <a:avLst/>
          </a:prstGeom>
          <a:solidFill>
            <a:srgbClr val="E8F5E9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26480" y="3063240"/>
            <a:ext cx="23774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5F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ValidationChain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126480" y="3474720"/>
            <a:ext cx="237744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支持组合多个验证器，链式调用，任何一个失败即返回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教学场景案例与Harness案例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D4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Teaching Scenarios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2560320"/>
          </a:xfrm>
          <a:prstGeom prst="rect">
            <a:avLst/>
          </a:prstGeom>
          <a:solidFill>
            <a:srgbClr val="2A3A7A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2651760" cy="50292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6" name="Text 4"/>
          <p:cNvSpPr/>
          <p:nvPr/>
        </p:nvSpPr>
        <p:spPr>
          <a:xfrm>
            <a:off x="457200" y="137160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智能客服 Harness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2468880" cy="1645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意图识别、情感分析、多轮对话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651760" cy="2560320"/>
          </a:xfrm>
          <a:prstGeom prst="rect">
            <a:avLst/>
          </a:prstGeom>
          <a:solidFill>
            <a:srgbClr val="2A3A7A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371600"/>
            <a:ext cx="2651760" cy="502920"/>
          </a:xfrm>
          <a:prstGeom prst="rect">
            <a:avLst/>
          </a:prstGeom>
          <a:solidFill>
            <a:srgbClr val="00D4FF"/>
          </a:solidFill>
        </p:spPr>
      </p:sp>
      <p:sp>
        <p:nvSpPr>
          <p:cNvPr id="10" name="Text 8"/>
          <p:cNvSpPr/>
          <p:nvPr/>
        </p:nvSpPr>
        <p:spPr>
          <a:xfrm>
            <a:off x="3291840" y="137160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数据处理流水线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383280" y="2011680"/>
            <a:ext cx="2468880" cy="1645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ETL、验证、自动报告生成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651760" cy="2560320"/>
          </a:xfrm>
          <a:prstGeom prst="rect">
            <a:avLst/>
          </a:prstGeom>
          <a:solidFill>
            <a:srgbClr val="2A3A7A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371600"/>
            <a:ext cx="2651760" cy="502920"/>
          </a:xfrm>
          <a:prstGeom prst="rect">
            <a:avLst/>
          </a:prstGeom>
          <a:solidFill>
            <a:srgbClr val="2C5F2D"/>
          </a:solidFill>
        </p:spPr>
      </p:sp>
      <p:sp>
        <p:nvSpPr>
          <p:cNvPr id="14" name="Text 12"/>
          <p:cNvSpPr/>
          <p:nvPr/>
        </p:nvSpPr>
        <p:spPr>
          <a:xfrm>
            <a:off x="6126480" y="137160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研究助手 Harness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17920" y="2011680"/>
            <a:ext cx="2468880" cy="1645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文献搜索、自动笔记、大纲生成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适合软件学院数据结构、算法、软件工程等课程的教学案例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代码示例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325880"/>
            <a:ext cx="35661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472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ReAct Agent 循环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566160" cy="2560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not done: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thought = llm.think(context)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action = parse_action(thought)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 = tool.execute(action)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context += result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325880"/>
            <a:ext cx="35661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472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工具装饰器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37760" y="1828800"/>
            <a:ext cx="3566160" cy="2560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@tool_registry.register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calculator(expr: str):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"""执行数学计算"""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eval(expression)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最佳实践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solidFill>
            <a:srgbClr val="2C5F2D"/>
          </a:solidFill>
        </p:spPr>
      </p:sp>
      <p:sp>
        <p:nvSpPr>
          <p:cNvPr id="6" name="Text 4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 推荐做法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3566160" cy="2743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明确 Harness 的职责边界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工具描述要精确完整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验证每步输出再继续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记录完整执行轨迹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优雅处理工具调用失败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solidFill>
            <a:srgbClr val="B85042"/>
          </a:solidFill>
        </p:spPr>
      </p:sp>
      <p:sp>
        <p:nvSpPr>
          <p:cNvPr id="10" name="Text 8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避免做法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783080"/>
            <a:ext cx="3566160" cy="2743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Harness 职责过于宽泛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工具参数描述模糊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跳过验证直接信任输出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无限循环无退出机制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忽略异常处理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2743200"/>
          </a:xfrm>
          <a:prstGeom prst="rect">
            <a:avLst/>
          </a:prstGeom>
          <a:solidFill>
            <a:srgbClr val="2A3A7A"/>
          </a:solidFill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2377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驾驭工程是构建复杂 AI 应用的核心能力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ReAct 和 Plan-and-Execute 是 Harness 可编排的两类执行模式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任务图实现多步骤编排，工具调用必须经过路由、权限与审计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护栏、追踪和评估是确保 Harness 质量的关键环节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Notebook 与运行时案例帮助学生掌握可控AI系统落地路径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D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演示：examples/harness_engineering_complete.ipynb 与 06_harness_runtime.py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Q&amp;A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D4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问答环节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0" y="4114800"/>
            <a:ext cx="1828800" cy="73152"/>
          </a:xfrm>
          <a:prstGeom prst="rect">
            <a:avLst/>
          </a:prstGeom>
          <a:solidFill>
            <a:srgbClr val="00D4FF"/>
          </a:solid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2036</Words>
  <Application>WPS 演示</Application>
  <PresentationFormat>On-screen Show (16:9)</PresentationFormat>
  <Paragraphs>313</Paragraphs>
  <Slides>15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7" baseType="lpstr">
      <vt:lpstr>Arial</vt:lpstr>
      <vt:lpstr>宋体</vt:lpstr>
      <vt:lpstr>Wingdings</vt:lpstr>
      <vt:lpstr>微软雅黑</vt:lpstr>
      <vt:lpstr>汉仪旗黑</vt:lpstr>
      <vt:lpstr>微软雅黑</vt:lpstr>
      <vt:lpstr>微软雅黑</vt:lpstr>
      <vt:lpstr>Arial</vt:lpstr>
      <vt:lpstr>Arial</vt:lpstr>
      <vt:lpstr>Consolas</vt:lpstr>
      <vt:lpstr>Consolas</vt:lpstr>
      <vt:lpstr>Consolas</vt:lpstr>
      <vt:lpstr>Calibri</vt:lpstr>
      <vt:lpstr>Helvetica Neue</vt:lpstr>
      <vt:lpstr>宋体</vt:lpstr>
      <vt:lpstr>Arial Unicode MS</vt:lpstr>
      <vt:lpstr>等线</vt:lpstr>
      <vt:lpstr>汉仪中等线KW</vt:lpstr>
      <vt:lpstr>汉仪书宋二KW</vt:lpstr>
      <vt:lpstr>苹方-简</vt:lpstr>
      <vt:lpstr>儷宋 Pro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驾驭工程 Agent Engineering</dc:title>
  <dc:creator>AI Course</dc:creator>
  <dc:subject>PptxGenJS Presentation</dc:subject>
  <cp:lastModifiedBy>冬来</cp:lastModifiedBy>
  <cp:revision>2</cp:revision>
  <dcterms:created xsi:type="dcterms:W3CDTF">2026-05-19T00:56:32Z</dcterms:created>
  <dcterms:modified xsi:type="dcterms:W3CDTF">2026-05-19T00:56:32Z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E5AA33A99AE69AC740B50B6AF96C8C24_42</vt:lpwstr>
  </property>
  <property fmtid="{D5CDD505-2E9C-101B-9397-08002B2CF9AE}" pid="3" name="KSOProductBuildVer">
    <vt:lpwstr>2052-12.1.25205.25205</vt:lpwstr>
  </property>
</Properties>
</file>