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ns0:sld xmlns:a="http://schemas.openxmlformats.org/drawingml/2006/main" xmlns:ns0="http://schemas.openxmlformats.org/presentationml/2006/main">
  <ns0:cSld name="Slide 1">
    <ns0:bg>
      <ns0:bgPr>
        <a:solidFill>
          <a:srgbClr val="1E2761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3657600"/>
            <a:ext cx="9144000" cy="14859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驾驭工程</a:t>
            </a:r>
            <a:endParaRPr lang="en-US" sz="56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2194560"/>
            <a:ext cx="82296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32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3931920"/>
            <a:ext cx="822960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Harness 架构、护栏、评估与实现</a:t>
            </a:r>
            <a:endParaRPr lang="en-US" sz="22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457200" y="4572000"/>
            <a:ext cx="82296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面向软件学院本科生/研究生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>
  <ns0:cSld name="Slide 2">
    <ns0:bg>
      <ns0:bgPr>
        <a:solidFill>
          <a:srgbClr val="1E2761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457200" y="365760"/>
            <a:ext cx="8229600" cy="7315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</a:t>
            </a:r>
            <a:endParaRPr lang="en-US" sz="36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457200" y="914400"/>
            <a:ext cx="82296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914400" y="1554480"/>
            <a:ext cx="7315200" cy="3200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核心概念定义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AI Harness 架构与实现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多步骤任务编排与工具调用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输出质量控制与验证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实际代码案例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教学场景化案例</a:t>
            </a:r>
            <a:endParaRPr lang="en-US" sz="2200" dirty="0"/>
          </a:p>
        </ns0:txBody>
      </ns0:sp>
    </ns0:spTree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>
  <ns0:cSld name="Slide 3">
    <ns0:bg>
      <ns0:bgPr>
        <a:solidFill>
          <a:srgbClr val="E8F4FD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ns0:spPr>
      </ns0:sp>
      <ns0:sp>
        <ns0:nvSpPr>
          <ns0:cNvPr id="3" name="Text 1"/>
          <ns0:cNvSpPr/>
          <ns0:nvPr/>
        </ns0:nvSpPr>
        <ns0:spPr>
          <a:xfrm>
            <a:off x="457200" y="182880"/>
            <a:ext cx="822960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Harness Engineering</a:t>
            </a:r>
            <a:endParaRPr lang="en-US" sz="32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5" name="Shape 3"/>
          <ns0:cNvSpPr/>
          <ns0:nvPr/>
        </ns0:nvSpPr>
        <ns0:spPr>
          <a:xfrm>
            <a:off x="457200" y="1188720"/>
            <a:ext cx="73152" cy="347472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6" name="Text 4"/>
          <ns0:cNvSpPr/>
          <ns0:nvPr/>
        </ns0:nvSpPr>
        <ns0:spPr>
          <a:xfrm>
            <a:off x="685800" y="1325880"/>
            <a:ext cx="36576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驾驭工程定义</a:t>
            </a:r>
            <a:endParaRPr lang="en-US" sz="16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685800" y="1737360"/>
            <a:ext cx="3657600" cy="1371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围绕大语言模型或 AI Agent 构建可控执行外壳的系统性方法，覆盖任务编排、工具路由、状态管理、权限护栏、评估、追踪与人工接管。</a:t>
            </a:r>
            <a:endParaRPr lang="en-US" sz="13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4754880" y="1188720"/>
            <a:ext cx="73152" cy="347472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10" name="Text 8"/>
          <ns0:cNvSpPr/>
          <ns0:nvPr/>
        </ns0:nvSpPr>
        <ns0:spPr>
          <a:xfrm>
            <a:off x="4983480" y="1325880"/>
            <a:ext cx="347472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</a:t>
            </a:r>
            <a:endParaRPr lang="en-US" sz="16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5120640" y="18288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ns0:spPr>
      </ns0:sp>
      <ns0:sp>
        <ns0:nvSpPr>
          <ns0:cNvPr id="12" name="Text 10"/>
          <ns0:cNvSpPr/>
          <ns0:nvPr/>
        </ns0:nvSpPr>
        <ns0:spPr>
          <a:xfrm>
            <a:off x="5120640" y="1828800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用户目标</a:t>
            </a:r>
            <a:endParaRPr lang="en-US" sz="13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6080760" y="2331720"/>
            <a:ext cx="91440" cy="18288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14" name="Shape 12"/>
          <ns0:cNvSpPr/>
          <ns0:nvPr/>
        </ns0:nvSpPr>
        <ns0:spPr>
          <a:xfrm>
            <a:off x="5120640" y="25146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ns0:spPr>
      </ns0:sp>
      <ns0:sp>
        <ns0:nvSpPr>
          <ns0:cNvPr id="15" name="Text 13"/>
          <ns0:cNvSpPr/>
          <ns0:nvPr/>
        </ns0:nvSpPr>
        <ns0:spPr>
          <a:xfrm>
            <a:off x="5120640" y="2514600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Core</a:t>
            </a:r>
            <a:endParaRPr lang="en-US" sz="13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080760" y="3017520"/>
            <a:ext cx="91440" cy="18288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17" name="Shape 15"/>
          <ns0:cNvSpPr/>
          <ns0:nvPr/>
        </ns0:nvSpPr>
        <ns0:spPr>
          <a:xfrm>
            <a:off x="5120640" y="32004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ns0:spPr>
      </ns0:sp>
      <ns0:sp>
        <ns0:nvSpPr>
          <ns0:cNvPr id="18" name="Text 16"/>
          <ns0:cNvSpPr/>
          <ns0:nvPr/>
        </ns0:nvSpPr>
        <ns0:spPr>
          <a:xfrm>
            <a:off x="5120640" y="3200400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</a:t>
            </a:r>
            <a:endParaRPr lang="en-US" sz="13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6080760" y="3703320"/>
            <a:ext cx="91440" cy="18288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20" name="Shape 18"/>
          <ns0:cNvSpPr/>
          <ns0:nvPr/>
        </ns0:nvSpPr>
        <ns0:spPr>
          <a:xfrm>
            <a:off x="5120640" y="38862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ns0:spPr>
      </ns0:sp>
      <ns0:sp>
        <ns0:nvSpPr>
          <ns0:cNvPr id="21" name="Text 19"/>
          <ns0:cNvSpPr/>
          <ns0:nvPr/>
        </ns0:nvSpPr>
        <ns0:spPr>
          <a:xfrm>
            <a:off x="5120640" y="3886200"/>
            <a:ext cx="201168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>
  <ns0:cSld name="Slide 4">
    <ns0:bg>
      <ns0:bgPr>
        <a:solidFill>
          <a:srgbClr val="E8F4FD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ns0:spPr>
      </ns0:sp>
      <ns0:sp>
        <ns0:nvSpPr>
          <ns0:cNvPr id="3" name="Text 1"/>
          <ns0:cNvSpPr/>
          <ns0:nvPr/>
        </ns0:nvSpPr>
        <ns0:spPr>
          <a:xfrm>
            <a:off x="457200" y="182880"/>
            <a:ext cx="822960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核心要素</a:t>
            </a:r>
            <a:endParaRPr lang="en-US" sz="32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45720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5" name="Shape 3"/>
          <ns0:cNvSpPr/>
          <ns0:nvPr/>
        </ns0:nvSpPr>
        <ns0:spPr>
          <a:xfrm>
            <a:off x="457200" y="1188720"/>
            <a:ext cx="2651760" cy="4572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6" name="Text 4"/>
          <ns0:cNvSpPr/>
          <ns0:nvPr/>
        </ns0:nvSpPr>
        <ns0:spPr>
          <a:xfrm>
            <a:off x="457200" y="1188720"/>
            <a:ext cx="265176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规划器</a:t>
            </a:r>
            <a:endParaRPr lang="en-US" sz="16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457200" y="1691640"/>
            <a:ext cx="26517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1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48640" y="2057400"/>
            <a:ext cx="24688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将复杂任务分解为可执行的子任务</a:t>
            </a:r>
            <a:endParaRPr lang="en-US" sz="11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329184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3291840" y="1188720"/>
            <a:ext cx="2651760" cy="4572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11" name="Text 9"/>
          <ns0:cNvSpPr/>
          <ns0:nvPr/>
        </ns0:nvSpPr>
        <ns0:spPr>
          <a:xfrm>
            <a:off x="3291840" y="1188720"/>
            <a:ext cx="265176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6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3291840" y="1691640"/>
            <a:ext cx="26517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3383280" y="2057400"/>
            <a:ext cx="24688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存储历史交互、知识和中间状态</a:t>
            </a:r>
            <a:endParaRPr lang="en-US" sz="11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612648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15" name="Shape 13"/>
          <ns0:cNvSpPr/>
          <ns0:nvPr/>
        </ns0:nvSpPr>
        <ns0:spPr>
          <a:xfrm>
            <a:off x="6126480" y="1188720"/>
            <a:ext cx="2651760" cy="4572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16" name="Text 14"/>
          <ns0:cNvSpPr/>
          <ns0:nvPr/>
        </ns0:nvSpPr>
        <ns0:spPr>
          <a:xfrm>
            <a:off x="6126480" y="1188720"/>
            <a:ext cx="265176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6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6126480" y="1691640"/>
            <a:ext cx="26517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6217920" y="2057400"/>
            <a:ext cx="24688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调用外部API、函数或服务的能力</a:t>
            </a:r>
            <a:endParaRPr lang="en-US" sz="11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45720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20" name="Shape 18"/>
          <ns0:cNvSpPr/>
          <ns0:nvPr/>
        </ns0:nvSpPr>
        <ns0:spPr>
          <a:xfrm>
            <a:off x="457200" y="3017520"/>
            <a:ext cx="2651760" cy="4572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21" name="Text 19"/>
          <ns0:cNvSpPr/>
          <ns0:nvPr/>
        </ns0:nvSpPr>
        <ns0:spPr>
          <a:xfrm>
            <a:off x="457200" y="3017520"/>
            <a:ext cx="265176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推理引擎</a:t>
            </a:r>
            <a:endParaRPr lang="en-US" sz="16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457200" y="3520440"/>
            <a:ext cx="26517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1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548640" y="3886200"/>
            <a:ext cx="24688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ReAct、CoT 等推理模式</a:t>
            </a:r>
            <a:endParaRPr lang="en-US" sz="11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329184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25" name="Shape 23"/>
          <ns0:cNvSpPr/>
          <ns0:nvPr/>
        </ns0:nvSpPr>
        <ns0:spPr>
          <a:xfrm>
            <a:off x="3291840" y="3017520"/>
            <a:ext cx="2651760" cy="4572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26" name="Text 24"/>
          <ns0:cNvSpPr/>
          <ns0:nvPr/>
        </ns0:nvSpPr>
        <ns0:spPr>
          <a:xfrm>
            <a:off x="3291840" y="3017520"/>
            <a:ext cx="265176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</a:t>
            </a:r>
            <a:endParaRPr lang="en-US" sz="16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3291840" y="3520440"/>
            <a:ext cx="26517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110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3383280" y="3886200"/>
            <a:ext cx="24688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协调任务执行、处理异常</a:t>
            </a:r>
            <a:endParaRPr lang="en-US" sz="1100" dirty="0"/>
          </a:p>
        </ns0:txBody>
      </ns0:sp>
      <ns0:sp>
        <ns0:nvSpPr>
          <ns0:cNvPr id="29" name="Shape 27"/>
          <ns0:cNvSpPr/>
          <ns0:nvPr/>
        </ns0:nvSpPr>
        <ns0:spPr>
          <a:xfrm>
            <a:off x="612648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30" name="Shape 28"/>
          <ns0:cNvSpPr/>
          <ns0:nvPr/>
        </ns0:nvSpPr>
        <ns0:spPr>
          <a:xfrm>
            <a:off x="6126480" y="3017520"/>
            <a:ext cx="2651760" cy="45720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31" name="Text 29"/>
          <ns0:cNvSpPr/>
          <ns0:nvPr/>
        </ns0:nvSpPr>
        <ns0:spPr>
          <a:xfrm>
            <a:off x="6126480" y="3017520"/>
            <a:ext cx="265176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验证器</a:t>
            </a:r>
            <a:endParaRPr lang="en-US" sz="16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6126480" y="3520440"/>
            <a:ext cx="26517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1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6217920" y="3886200"/>
            <a:ext cx="24688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检验输出质量、确保符合预期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>
  <ns0:cSld name="Slide 5">
    <ns0:bg>
      <ns0:bgPr>
        <a:solidFill>
          <a:srgbClr val="1E2761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457200" y="274320"/>
            <a:ext cx="82296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vs 传统程序</a:t>
            </a:r>
            <a:endParaRPr lang="en-US" sz="34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457200" y="1097280"/>
            <a:ext cx="3931920" cy="457200"/>
          </a:xfrm>
          <a:prstGeom prst="rect">
            <a:avLst/>
          </a:prstGeom>
          <a:solidFill>
            <a:srgbClr val="64748B"/>
          </a:solidFill>
          <a:ln/>
        </ns0:spPr>
      </ns0:sp>
      <ns0:sp>
        <ns0:nvSpPr>
          <ns0:cNvPr id="4" name="Text 2"/>
          <ns0:cNvSpPr/>
          <ns0:nvPr/>
        </ns0:nvSpPr>
        <ns0:spPr>
          <a:xfrm>
            <a:off x="457200" y="1097280"/>
            <a:ext cx="39319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传统程序</a:t>
            </a:r>
            <a:endParaRPr lang="en-US" sz="18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64008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/>
        </ns0:spPr>
      </ns0:sp>
      <ns0:sp>
        <ns0:nvSpPr>
          <ns0:cNvPr id="6" name="Text 4"/>
          <ns0:cNvSpPr/>
          <ns0:nvPr/>
        </ns0:nvSpPr>
        <ns0:spPr>
          <a:xfrm>
            <a:off x="640080" y="1737360"/>
            <a:ext cx="118872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2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1783080" y="1737360"/>
            <a:ext cx="27432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→</a:t>
            </a:r>
            <a:endParaRPr lang="en-US" sz="18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201168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/>
        </ns0:spPr>
      </ns0:sp>
      <ns0:sp>
        <ns0:nvSpPr>
          <ns0:cNvPr id="9" name="Text 7"/>
          <ns0:cNvSpPr/>
          <ns0:nvPr/>
        </ns0:nvSpPr>
        <ns0:spPr>
          <a:xfrm>
            <a:off x="2011680" y="1737360"/>
            <a:ext cx="118872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固定规则</a:t>
            </a:r>
            <a:endParaRPr lang="en-US" sz="12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3154680" y="1737360"/>
            <a:ext cx="27432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→</a:t>
            </a:r>
            <a:endParaRPr lang="en-US" sz="18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338328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/>
        </ns0:spPr>
      </ns0:sp>
      <ns0:sp>
        <ns0:nvSpPr>
          <ns0:cNvPr id="12" name="Text 10"/>
          <ns0:cNvSpPr/>
          <ns0:nvPr/>
        </ns0:nvSpPr>
        <ns0:spPr>
          <a:xfrm>
            <a:off x="3383280" y="1737360"/>
            <a:ext cx="1188720" cy="6400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确定性输出</a:t>
            </a:r>
            <a:endParaRPr lang="en-US" sz="12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57200" y="2560320"/>
            <a:ext cx="393192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输入确定 → 规则固定 → 输出确定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754880" y="1097280"/>
            <a:ext cx="3931920" cy="45720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15" name="Text 13"/>
          <ns0:cNvSpPr/>
          <ns0:nvPr/>
        </ns0:nvSpPr>
        <ns0:spPr>
          <a:xfrm>
            <a:off x="4754880" y="1097280"/>
            <a:ext cx="39319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Harness</a:t>
            </a:r>
            <a:endParaRPr lang="en-US" sz="18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4937760" y="17373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ns0:spPr>
      </ns0:sp>
      <ns0:sp>
        <ns0:nvSpPr>
          <ns0:cNvPr id="17" name="Text 15"/>
          <ns0:cNvSpPr/>
          <ns0:nvPr/>
        </ns0:nvSpPr>
        <ns0:spPr>
          <a:xfrm>
            <a:off x="4937760" y="1737360"/>
            <a:ext cx="10972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理解意图</a:t>
            </a:r>
            <a:endParaRPr lang="en-US" sz="11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5989320" y="1737360"/>
            <a:ext cx="22860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6172200" y="17373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ns0:spPr>
      </ns0:sp>
      <ns0:sp>
        <ns0:nvSpPr>
          <ns0:cNvPr id="20" name="Text 18"/>
          <ns0:cNvSpPr/>
          <ns0:nvPr/>
        </ns0:nvSpPr>
        <ns0:spPr>
          <a:xfrm>
            <a:off x="6172200" y="1737360"/>
            <a:ext cx="10972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规划步骤</a:t>
            </a:r>
            <a:endParaRPr lang="en-US" sz="11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223760" y="1737360"/>
            <a:ext cx="22860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7406640" y="17373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ns0:spPr>
      </ns0:sp>
      <ns0:sp>
        <ns0:nvSpPr>
          <ns0:cNvPr id="23" name="Text 21"/>
          <ns0:cNvSpPr/>
          <ns0:nvPr/>
        </ns0:nvSpPr>
        <ns0:spPr>
          <a:xfrm>
            <a:off x="7406640" y="1737360"/>
            <a:ext cx="10972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</a:t>
            </a:r>
            <a:endParaRPr lang="en-US" sz="11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4937760" y="24688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ns0:spPr>
      </ns0:sp>
      <ns0:sp>
        <ns0:nvSpPr>
          <ns0:cNvPr id="25" name="Text 23"/>
          <ns0:cNvSpPr/>
          <ns0:nvPr/>
        </ns0:nvSpPr>
        <ns0:spPr>
          <a:xfrm>
            <a:off x="4937760" y="2468880"/>
            <a:ext cx="10972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</a:t>
            </a:r>
            <a:endParaRPr lang="en-US" sz="11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5989320" y="2468880"/>
            <a:ext cx="22860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ns0:txBody>
      </ns0:sp>
      <ns0:sp>
        <ns0:nvSpPr>
          <ns0:cNvPr id="27" name="Shape 25"/>
          <ns0:cNvSpPr/>
          <ns0:nvPr/>
        </ns0:nvSpPr>
        <ns0:spPr>
          <a:xfrm>
            <a:off x="6172200" y="24688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ns0:spPr>
      </ns0:sp>
      <ns0:sp>
        <ns0:nvSpPr>
          <ns0:cNvPr id="28" name="Text 26"/>
          <ns0:cNvSpPr/>
          <ns0:nvPr/>
        </ns0:nvSpPr>
        <ns0:spPr>
          <a:xfrm>
            <a:off x="6172200" y="2468880"/>
            <a:ext cx="109728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反思调整</a:t>
            </a:r>
            <a:endParaRPr lang="en-US" sz="1100" dirty="0"/>
          </a:p>
        </ns0:txBody>
      </ns0:sp>
      <ns0:sp>
        <ns0:nvSpPr>
          <ns0:cNvPr id="29" name="Text 27"/>
          <ns0:cNvSpPr/>
          <ns0:nvPr/>
        </ns0:nvSpPr>
        <ns0:spPr>
          <a:xfrm>
            <a:off x="4754880" y="3291840"/>
            <a:ext cx="393192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 → 受控执行 → 可审计输出</a:t>
            </a:r>
            <a:endParaRPr lang="en-US" sz="120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457200" y="3840480"/>
            <a:ext cx="8229600" cy="1097280"/>
          </a:xfrm>
          <a:prstGeom prst="rect">
            <a:avLst/>
          </a:prstGeom>
          <a:solidFill>
            <a:srgbClr val="2A3A7A"/>
          </a:solidFill>
          <a:ln/>
        </ns0:spPr>
      </ns0:sp>
      <ns0:sp>
        <ns0:nvSpPr>
          <ns0:cNvPr id="31" name="Text 29"/>
          <ns0:cNvSpPr/>
          <ns0:nvPr/>
        </ns0:nvSpPr>
        <ns0:spPr>
          <a:xfrm>
            <a:off x="640080" y="4114800"/>
            <a:ext cx="786384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核心区别：Harness 不只追求自主执行，更强调权限控制、评估、追踪和失败恢复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模式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0" y="228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Acting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 Think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 Observe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95360" y="2377440"/>
            <a:ext cx="9144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关键优势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推理过程透明可见 — 每一步都有思考记录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能够处理多步骤复杂任务 — 通过循环迭代逐步求解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可以根据观察结果调整后续行动 — 动态适应环境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适用于动态环境、交互式任务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Plan-and-Execute 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规划阶段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分析任务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生成执行计划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依赖关系分析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执行阶段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按计划逐步执行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验证每步结果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动态调整路径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异常处理与回退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适用场景：复杂但可预测的任务 — 需要提前规划的长流程工作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优点：计划可控、易于调试  |  缺点：缺乏灵活性，计划可能过时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架构对比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011680"/>
                <a:gridCol w="1920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动态环境、交互式任务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灵活、可自适应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计算开销大、循环次数不固定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Plan-and-Execute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复杂但可预测任务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计划可控、易于调试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缺乏灵活性、计划可能过时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复杂综合任务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结合两者优点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实现复杂度高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任务图 (Task Graph)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有向无环图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9202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320040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3200400"/>
            <a:ext cx="640080" cy="6400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2560320"/>
            <a:ext cx="914400" cy="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560320"/>
            <a:ext cx="-914400" cy="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560320"/>
            <a:ext cx="-914400" cy="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3840480"/>
            <a:ext cx="1828800" cy="-64008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18872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52160" y="173736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任务依赖管理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定义任务间先后关系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并行/串行执行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独立任务并行调度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执行结果传递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下游任务使用上游结果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ns0:sld xmlns:a="http://schemas.openxmlformats.org/drawingml/2006/main" xmlns:ns0="http://schemas.openxmlformats.org/presentationml/2006/main">
  <ns0:cSld name="Slide 10">
    <ns0:bg>
      <ns0:bgPr>
        <a:solidFill>
          <a:srgbClr val="E8F4FD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ns0:spPr>
      </ns0:sp>
      <ns0:sp>
        <ns0:nvSpPr>
          <ns0:cNvPr id="3" name="Text 1"/>
          <ns0:cNvSpPr/>
          <ns0:nvPr/>
        </ns0:nvSpPr>
        <ns0:spPr>
          <a:xfrm>
            <a:off x="457200" y="182880"/>
            <a:ext cx="822960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工具调用系统</a:t>
            </a:r>
            <a:endParaRPr lang="en-US" sz="32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457200" y="1188720"/>
            <a:ext cx="8229600" cy="914400"/>
          </a:xfrm>
          <a:prstGeom prst="rect">
            <a:avLst/>
          </a:prstGeom>
          <a:solidFill>
            <a:srgbClr val="EEF2FF"/>
          </a:solidFill>
          <a:ln/>
        </ns0:spPr>
      </ns0:sp>
      <ns0:sp>
        <ns0:nvSpPr>
          <ns0:cNvPr id="5" name="Text 3"/>
          <ns0:cNvSpPr/>
          <ns0:nvPr/>
        </ns0:nvSpPr>
        <ns0:spPr>
          <a:xfrm>
            <a:off x="640080" y="1371600"/>
            <a:ext cx="786384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= Harness 连接外部系统的受控接口</a:t>
            </a:r>
            <a:endParaRPr lang="en-US" sz="16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45720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7" name="Shape 5"/>
          <ns0:cNvSpPr/>
          <ns0:nvPr/>
        </ns0:nvSpPr>
        <ns0:spPr>
          <a:xfrm>
            <a:off x="457200" y="2286000"/>
            <a:ext cx="1920240" cy="41148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8" name="Text 6"/>
          <ns0:cNvSpPr/>
          <ns0:nvPr/>
        </ns0:nvSpPr>
        <ns0:spPr>
          <a:xfrm>
            <a:off x="457200" y="2286000"/>
            <a:ext cx="192024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定义</a:t>
            </a:r>
            <a:endParaRPr lang="en-US" sz="14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548640" y="2788920"/>
            <a:ext cx="1737360" cy="8229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名称、描述、参数 schema</a:t>
            </a:r>
            <a:endParaRPr lang="en-US" sz="12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2331720" y="2743200"/>
            <a:ext cx="36576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65176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12" name="Shape 10"/>
          <ns0:cNvSpPr/>
          <ns0:nvPr/>
        </ns0:nvSpPr>
        <ns0:spPr>
          <a:xfrm>
            <a:off x="2651760" y="2286000"/>
            <a:ext cx="1920240" cy="41148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13" name="Text 11"/>
          <ns0:cNvSpPr/>
          <ns0:nvPr/>
        </ns0:nvSpPr>
        <ns0:spPr>
          <a:xfrm>
            <a:off x="2651760" y="2286000"/>
            <a:ext cx="192024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注册</a:t>
            </a:r>
            <a:endParaRPr lang="en-US" sz="14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2743200" y="2788920"/>
            <a:ext cx="1737360" cy="8229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ToolRegistry 管理</a:t>
            </a:r>
            <a:endParaRPr lang="en-US" sz="12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526280" y="2743200"/>
            <a:ext cx="36576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484632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4846320" y="2286000"/>
            <a:ext cx="1920240" cy="41148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18" name="Text 16"/>
          <ns0:cNvSpPr/>
          <ns0:nvPr/>
        </ns0:nvSpPr>
        <ns0:spPr>
          <a:xfrm>
            <a:off x="4846320" y="2286000"/>
            <a:ext cx="192024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调用</a:t>
            </a:r>
            <a:endParaRPr lang="en-US" sz="14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937760" y="2788920"/>
            <a:ext cx="1737360" cy="8229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解析参数、执行逻辑</a:t>
            </a:r>
            <a:endParaRPr lang="en-US" sz="12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720840" y="2743200"/>
            <a:ext cx="36576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7040880" y="22860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22" name="Shape 20"/>
          <ns0:cNvSpPr/>
          <ns0:nvPr/>
        </ns0:nvSpPr>
        <ns0:spPr>
          <a:xfrm>
            <a:off x="7040880" y="2286000"/>
            <a:ext cx="1920240" cy="41148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23" name="Text 21"/>
          <ns0:cNvSpPr/>
          <ns0:nvPr/>
        </ns0:nvSpPr>
        <ns0:spPr>
          <a:xfrm>
            <a:off x="7040880" y="2286000"/>
            <a:ext cx="192024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结果返回</a:t>
            </a:r>
            <a:endParaRPr lang="en-US" sz="14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132320" y="2788920"/>
            <a:ext cx="1737360" cy="8229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ToolResult 封装</a:t>
            </a:r>
            <a:endParaRPr lang="en-US" sz="120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457200" y="39319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26" name="Text 24"/>
          <ns0:cNvSpPr/>
          <ns0:nvPr/>
        </ns0:nvSpPr>
        <ns0:spPr>
          <a:xfrm>
            <a:off x="640080" y="4114800"/>
            <a:ext cx="786384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示例工具：calculator | web_search | read_file | write_file | 数据库查询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输出质量控制与验证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JSONFormatValidator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 JSON 格式与必需键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LengthValidator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字数长度范围检查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KeywordValidator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关键词存在性检查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RegexValidator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正则表达式匹配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73152" cy="1463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LLM-Assisted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辅助语义验证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743200" cy="14630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ValidationChain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支持组合多个验证器，链式调用，任何一个失败即返回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ns0:sld xmlns:a="http://schemas.openxmlformats.org/drawingml/2006/main" xmlns:ns0="http://schemas.openxmlformats.org/presentationml/2006/main">
  <ns0:cSld name="Slide 12">
    <ns0:bg>
      <ns0:bgPr>
        <a:solidFill>
          <a:srgbClr val="1E2761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457200" y="274320"/>
            <a:ext cx="82296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教学场景案例与Harness案例</a:t>
            </a:r>
            <a:endParaRPr lang="en-US" sz="34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457200" y="777240"/>
            <a:ext cx="82296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Scenarios</a:t>
            </a:r>
            <a:endParaRPr lang="en-US" sz="16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457200" y="1371600"/>
            <a:ext cx="2651760" cy="2560320"/>
          </a:xfrm>
          <a:prstGeom prst="rect">
            <a:avLst/>
          </a:prstGeom>
          <a:solidFill>
            <a:srgbClr val="2A3A7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5" name="Shape 3"/>
          <ns0:cNvSpPr/>
          <ns0:nvPr/>
        </ns0:nvSpPr>
        <ns0:spPr>
          <a:xfrm>
            <a:off x="457200" y="1371600"/>
            <a:ext cx="2651760" cy="502920"/>
          </a:xfrm>
          <a:prstGeom prst="rect">
            <a:avLst/>
          </a:prstGeom>
          <a:solidFill>
            <a:srgbClr val="4472C4"/>
          </a:solidFill>
          <a:ln/>
        </ns0:spPr>
      </ns0:sp>
      <ns0:sp>
        <ns0:nvSpPr>
          <ns0:cNvPr id="6" name="Text 4"/>
          <ns0:cNvSpPr/>
          <ns0:nvPr/>
        </ns0:nvSpPr>
        <ns0:spPr>
          <a:xfrm>
            <a:off x="457200" y="1371600"/>
            <a:ext cx="265176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 Harness</a:t>
            </a:r>
            <a:endParaRPr lang="en-US" sz="15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48640" y="2011680"/>
            <a:ext cx="2468880" cy="1645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意图识别、情感分析、多轮对话</a:t>
            </a:r>
            <a:endParaRPr lang="en-US" sz="13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3291840" y="1371600"/>
            <a:ext cx="2651760" cy="2560320"/>
          </a:xfrm>
          <a:prstGeom prst="rect">
            <a:avLst/>
          </a:prstGeom>
          <a:solidFill>
            <a:srgbClr val="2A3A7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3291840" y="1371600"/>
            <a:ext cx="2651760" cy="502920"/>
          </a:xfrm>
          <a:prstGeom prst="rect">
            <a:avLst/>
          </a:prstGeom>
          <a:solidFill>
            <a:srgbClr val="00D4FF"/>
          </a:solidFill>
          <a:ln/>
        </ns0:spPr>
      </ns0:sp>
      <ns0:sp>
        <ns0:nvSpPr>
          <ns0:cNvPr id="10" name="Text 8"/>
          <ns0:cNvSpPr/>
          <ns0:nvPr/>
        </ns0:nvSpPr>
        <ns0:spPr>
          <a:xfrm>
            <a:off x="3291840" y="1371600"/>
            <a:ext cx="265176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数据处理流水线</a:t>
            </a:r>
            <a:endParaRPr lang="en-US" sz="15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383280" y="2011680"/>
            <a:ext cx="2468880" cy="1645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ETL、验证、自动报告生成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6126480" y="1371600"/>
            <a:ext cx="2651760" cy="2560320"/>
          </a:xfrm>
          <a:prstGeom prst="rect">
            <a:avLst/>
          </a:prstGeom>
          <a:solidFill>
            <a:srgbClr val="2A3A7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6126480" y="1371600"/>
            <a:ext cx="2651760" cy="502920"/>
          </a:xfrm>
          <a:prstGeom prst="rect">
            <a:avLst/>
          </a:prstGeom>
          <a:solidFill>
            <a:srgbClr val="2C5F2D"/>
          </a:solidFill>
          <a:ln/>
        </ns0:spPr>
      </ns0:sp>
      <ns0:sp>
        <ns0:nvSpPr>
          <ns0:cNvPr id="14" name="Text 12"/>
          <ns0:cNvSpPr/>
          <ns0:nvPr/>
        </ns0:nvSpPr>
        <ns0:spPr>
          <a:xfrm>
            <a:off x="6126480" y="1371600"/>
            <a:ext cx="2651760" cy="5029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研究助手 Harness</a:t>
            </a:r>
            <a:endParaRPr lang="en-US" sz="15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6217920" y="2011680"/>
            <a:ext cx="2468880" cy="1645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文献搜索、自动笔记、大纲生成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457200" y="4206240"/>
            <a:ext cx="822960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适合软件学院数据结构、算法、软件工程等课程的教学案例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Agent 循环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done: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thought = llm.think(context)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parse_action(thought)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tool.execute(action)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 += result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工具装饰器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@tool_registry.register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calculator(expr: str):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"""执行数学计算"""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eval(expression)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ns0:sld xmlns:a="http://schemas.openxmlformats.org/drawingml/2006/main" xmlns:ns0="http://schemas.openxmlformats.org/presentationml/2006/main">
  <ns0:cSld name="Slide 14">
    <ns0:bg>
      <ns0:bgPr>
        <a:solidFill>
          <a:srgbClr val="E8F4FD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ns0:spPr>
      </ns0:sp>
      <ns0:sp>
        <ns0:nvSpPr>
          <ns0:cNvPr id="3" name="Text 1"/>
          <ns0:cNvSpPr/>
          <ns0:nvPr/>
        </ns0:nvSpPr>
        <ns0:spPr>
          <a:xfrm>
            <a:off x="457200" y="182880"/>
            <a:ext cx="8229600" cy="5486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32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5" name="Shape 3"/>
          <ns0:cNvSpPr/>
          <ns0:nvPr/>
        </ns0:nvSpPr>
        <ns0:spPr>
          <a:xfrm>
            <a:off x="457200" y="1188720"/>
            <a:ext cx="3931920" cy="457200"/>
          </a:xfrm>
          <a:prstGeom prst="rect">
            <a:avLst/>
          </a:prstGeom>
          <a:solidFill>
            <a:srgbClr val="2C5F2D"/>
          </a:solidFill>
          <a:ln/>
        </ns0:spPr>
      </ns0:sp>
      <ns0:sp>
        <ns0:nvSpPr>
          <ns0:cNvPr id="6" name="Text 4"/>
          <ns0:cNvSpPr/>
          <ns0:nvPr/>
        </ns0:nvSpPr>
        <ns0:spPr>
          <a:xfrm>
            <a:off x="457200" y="1188720"/>
            <a:ext cx="39319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推荐做法</a:t>
            </a:r>
            <a:endParaRPr lang="en-US" sz="16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640080" y="1783080"/>
            <a:ext cx="3566160" cy="2743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Harness 的职责边界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工具描述要精确完整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验证每步输出再继续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记录完整执行轨迹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优雅处理工具调用失败</a:t>
            </a:r>
            <a:endParaRPr lang="en-US" sz="14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4754880" y="1188720"/>
            <a:ext cx="3931920" cy="457200"/>
          </a:xfrm>
          <a:prstGeom prst="rect">
            <a:avLst/>
          </a:prstGeom>
          <a:solidFill>
            <a:srgbClr val="B85042"/>
          </a:solidFill>
          <a:ln/>
        </ns0:spPr>
      </ns0:sp>
      <ns0:sp>
        <ns0:nvSpPr>
          <ns0:cNvPr id="10" name="Text 8"/>
          <ns0:cNvSpPr/>
          <ns0:nvPr/>
        </ns0:nvSpPr>
        <ns0:spPr>
          <a:xfrm>
            <a:off x="4754880" y="1188720"/>
            <a:ext cx="393192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避免做法</a:t>
            </a:r>
            <a:endParaRPr lang="en-US" sz="16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937760" y="1783080"/>
            <a:ext cx="3566160" cy="2743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职责过于宽泛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工具参数描述模糊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跳过验证直接信任输出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无限循环无退出机制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忽略异常处理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15.xml><?xml version="1.0" encoding="utf-8"?>
<ns0:sld xmlns:a="http://schemas.openxmlformats.org/drawingml/2006/main" xmlns:ns0="http://schemas.openxmlformats.org/presentationml/2006/main">
  <ns0:cSld name="Slide 15">
    <ns0:bg>
      <ns0:bgPr>
        <a:solidFill>
          <a:srgbClr val="1E2761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457200" y="365760"/>
            <a:ext cx="8229600" cy="7315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8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457200" y="1188720"/>
            <a:ext cx="8229600" cy="2743200"/>
          </a:xfrm>
          <a:prstGeom prst="rect">
            <a:avLst/>
          </a:prstGeom>
          <a:solidFill>
            <a:srgbClr val="2A3A7A"/>
          </a:solidFill>
          <a:ln/>
        </ns0:spPr>
      </ns0:sp>
      <ns0:sp>
        <ns0:nvSpPr>
          <ns0:cNvPr id="4" name="Text 2"/>
          <ns0:cNvSpPr/>
          <ns0:nvPr/>
        </ns0:nvSpPr>
        <ns0:spPr>
          <a:xfrm>
            <a:off x="640080" y="1371600"/>
            <a:ext cx="7863840" cy="23774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驾驭工程是构建复杂 AI 应用的核心能力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和 Plan-and-Execute 是 Harness 可编排的两类执行模式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任务图实现多步骤编排，工具调用必须经过路由、权限与审计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护栏、追踪和评估是确保 Harness 质量的关键环节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 与运行时案例帮助学生掌握可控AI系统落地路径</a:t>
            </a:r>
            <a:endParaRPr lang="en-US" sz="17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4114800"/>
            <a:ext cx="822960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演示：examples/harness_engineering_complete.ipynb 与 06_harness_runtime.py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问答环节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4114800"/>
            <a:ext cx="18288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驾驭工程 Agent Engineering</dc:title>
  <dc:subject>PptxGenJS Presentation</dc:subject>
  <dc:creator>AI Course</dc:creator>
  <cp:lastModifiedBy>AI Course</cp:lastModifiedBy>
  <cp:revision>1</cp:revision>
  <dcterms:created xsi:type="dcterms:W3CDTF">2026-05-11T00:14:16Z</dcterms:created>
  <dcterms:modified xsi:type="dcterms:W3CDTF">2026-05-11T00:14:16Z</dcterms:modified>
</cp:coreProperties>
</file>