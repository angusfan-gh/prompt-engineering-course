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8B3A2F"/>
          </a:solidFill>
        </p:spPr>
      </p:sp>
      <p:sp>
        <p:nvSpPr>
          <p:cNvPr id="3" name="Text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提示工程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457200" y="219456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E7E8D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Prompt Engineering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释放大语言模型潜力的核心技能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7E8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面向软件学院本科生/研究生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课程大纲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A7BE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Agenda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7315200" cy="3474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 核心概念定义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 角色设定与格式控制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 Few-Shot Learning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 Chain of Thought (CoT)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 ReAct 模式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 高级技巧与组合策略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  常见陷阱与最佳实践</a:t>
            </a:r>
            <a:endParaRPr lang="en-US" sz="200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20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  教学场景化案例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什么是提示工程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347472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685800" y="132588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定义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1737360"/>
            <a:ext cx="3657600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提示工程是优化与大语言模型（LLM）交互方式的技术，通过设计高质量的输入提示来引导模型产生更准确、更有用的输出。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347472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0" name="Text 8"/>
          <p:cNvSpPr/>
          <p:nvPr/>
        </p:nvSpPr>
        <p:spPr>
          <a:xfrm>
            <a:off x="4983480" y="1325880"/>
            <a:ext cx="347472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为什么重要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828800"/>
            <a:ext cx="347472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相同模型，不同提示 → 截然不同的结果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好的 Prompt 能激发模型的全部潜力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成本低、见效快的模型优化方式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是 AI 应用开发的核心技能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核心术语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457200" y="1097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55448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模型处理的最小文本单位，通常 1 token ≈ 0.75 个英文单词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0" name="Text 8"/>
          <p:cNvSpPr/>
          <p:nvPr/>
        </p:nvSpPr>
        <p:spPr>
          <a:xfrm>
            <a:off x="4754880" y="109728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55448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控制输出随机性的参数，0=确定性，1=高随机性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774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7744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4" name="Text 12"/>
          <p:cNvSpPr/>
          <p:nvPr/>
        </p:nvSpPr>
        <p:spPr>
          <a:xfrm>
            <a:off x="457200" y="2377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 Prompt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283464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设定模型角色和行为的顶层指令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37744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8" name="Text 16"/>
          <p:cNvSpPr/>
          <p:nvPr/>
        </p:nvSpPr>
        <p:spPr>
          <a:xfrm>
            <a:off x="4754880" y="237744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 Window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83464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模型能处理的最大 token 数量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65760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65760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22" name="Text 20"/>
          <p:cNvSpPr/>
          <p:nvPr/>
        </p:nvSpPr>
        <p:spPr>
          <a:xfrm>
            <a:off x="457200" y="3657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Few-Shot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411480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通过示例引导模型理解任务模式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657600"/>
            <a:ext cx="4023360" cy="10972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3657600"/>
            <a:ext cx="4023360" cy="36576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26" name="Text 24"/>
          <p:cNvSpPr/>
          <p:nvPr/>
        </p:nvSpPr>
        <p:spPr>
          <a:xfrm>
            <a:off x="4754880" y="3657600"/>
            <a:ext cx="40233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114800"/>
            <a:ext cx="37490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Chain of Thought，思维链推理策略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角色设定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FDF5F0"/>
          </a:solidFill>
        </p:spPr>
      </p:sp>
      <p:sp>
        <p:nvSpPr>
          <p:cNvPr id="5" name="Text 3"/>
          <p:cNvSpPr/>
          <p:nvPr/>
        </p:nvSpPr>
        <p:spPr>
          <a:xfrm>
            <a:off x="640080" y="1417320"/>
            <a:ext cx="786384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System Prompt 赋予模型特定身份和专业背景，显著提升回答的专业性和准确性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40233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468880"/>
            <a:ext cx="73152" cy="100584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8" name="Text 6"/>
          <p:cNvSpPr/>
          <p:nvPr/>
        </p:nvSpPr>
        <p:spPr>
          <a:xfrm>
            <a:off x="640080" y="25603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资深 Python 后端工程师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971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10年经验，FastAPI/Django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2468880"/>
            <a:ext cx="40233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2468880"/>
            <a:ext cx="73152" cy="100584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2" name="Text 10"/>
          <p:cNvSpPr/>
          <p:nvPr/>
        </p:nvSpPr>
        <p:spPr>
          <a:xfrm>
            <a:off x="4937760" y="256032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代码审查专家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297180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安全/性能/可读性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57600"/>
            <a:ext cx="40233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57600"/>
            <a:ext cx="73152" cy="100584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6" name="Text 14"/>
          <p:cNvSpPr/>
          <p:nvPr/>
        </p:nvSpPr>
        <p:spPr>
          <a:xfrm>
            <a:off x="640080" y="37490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数据结构教师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算法与系统设计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3657600"/>
            <a:ext cx="4023360" cy="10058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3657600"/>
            <a:ext cx="73152" cy="100584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20" name="Text 18"/>
          <p:cNvSpPr/>
          <p:nvPr/>
        </p:nvSpPr>
        <p:spPr>
          <a:xfrm>
            <a:off x="4937760" y="374904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技术文档工程师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4160520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清晰准确的技术写作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Few-Shot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solidFill>
            <a:srgbClr val="FDF5F0"/>
          </a:solidFill>
        </p:spPr>
      </p:sp>
      <p:sp>
        <p:nvSpPr>
          <p:cNvPr id="5" name="Text 3"/>
          <p:cNvSpPr/>
          <p:nvPr/>
        </p:nvSpPr>
        <p:spPr>
          <a:xfrm>
            <a:off x="640080" y="1371600"/>
            <a:ext cx="786384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通过在 Prompt 中提供少量示例，让模型从示例中学习输入-输出模式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56032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28600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示例格式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43200"/>
            <a:ext cx="23774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&lt;example&gt;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&lt;label&gt;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输入: &lt;query&gt;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输出: 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0" y="2286000"/>
            <a:ext cx="256032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00400" y="2286000"/>
            <a:ext cx="256032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适用场景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91840" y="2743200"/>
            <a:ext cx="237744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情感分析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实体提取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文本分类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格式转换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0" y="2286000"/>
            <a:ext cx="2743200" cy="237744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0" y="2286000"/>
            <a:ext cx="27432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关键技巧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035040" y="2743200"/>
            <a:ext cx="2560320" cy="1828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示例要有代表性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覆盖边界情况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格式要一致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一般 3-5 个示例足够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Chain of Thought (CoT)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Zero-shot CoT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69164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在问题后添加："请一步一步思考"\n→ 简单有效，适用于大多数推理任务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16459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Few-shot CoT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691640"/>
            <a:ext cx="36576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在示例中展示完整推理过程\n→ 适合复杂多步推理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推理步骤示例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65760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B85042"/>
          </a:solidFill>
        </p:spPr>
      </p:sp>
      <p:sp>
        <p:nvSpPr>
          <p:cNvPr id="15" name="Text 13"/>
          <p:cNvSpPr/>
          <p:nvPr/>
        </p:nvSpPr>
        <p:spPr>
          <a:xfrm>
            <a:off x="640080" y="3657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理解问题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331720" y="365760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651760" y="365760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B85042"/>
          </a:solidFill>
        </p:spPr>
      </p:sp>
      <p:sp>
        <p:nvSpPr>
          <p:cNvPr id="18" name="Text 16"/>
          <p:cNvSpPr/>
          <p:nvPr/>
        </p:nvSpPr>
        <p:spPr>
          <a:xfrm>
            <a:off x="2651760" y="3657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分解子问题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343400" y="365760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663440" y="365760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B85042"/>
          </a:solidFill>
        </p:spPr>
      </p:sp>
      <p:sp>
        <p:nvSpPr>
          <p:cNvPr id="21" name="Text 19"/>
          <p:cNvSpPr/>
          <p:nvPr/>
        </p:nvSpPr>
        <p:spPr>
          <a:xfrm>
            <a:off x="4663440" y="3657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逐步求解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3657600"/>
            <a:ext cx="36576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64748B"/>
                </a:solidFill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675120" y="3657600"/>
            <a:ext cx="1737360" cy="548640"/>
          </a:xfrm>
          <a:prstGeom prst="roundRect">
            <a:avLst>
              <a:gd name="adj" fmla="val 8333"/>
            </a:avLst>
          </a:prstGeom>
          <a:solidFill>
            <a:srgbClr val="B85042"/>
          </a:solidFill>
        </p:spPr>
      </p:sp>
      <p:sp>
        <p:nvSpPr>
          <p:cNvPr id="24" name="Text 22"/>
          <p:cNvSpPr/>
          <p:nvPr/>
        </p:nvSpPr>
        <p:spPr>
          <a:xfrm>
            <a:off x="6675120" y="3657600"/>
            <a:ext cx="17373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汇总验证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38912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CoT 能显著提升数学、应用题、逻辑推理类任务的表现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模式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731520"/>
          </a:xfrm>
          <a:prstGeom prst="rect">
            <a:avLst/>
          </a:prstGeom>
          <a:solidFill>
            <a:srgbClr val="FDF5F0"/>
          </a:solidFill>
        </p:spPr>
      </p:sp>
      <p:sp>
        <p:nvSpPr>
          <p:cNvPr id="5" name="Text 3"/>
          <p:cNvSpPr/>
          <p:nvPr/>
        </p:nvSpPr>
        <p:spPr>
          <a:xfrm>
            <a:off x="640080" y="1325880"/>
            <a:ext cx="786384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= Reasoning + Acting — 交替进行推理和行动，让模型能够主动调用工具解决问题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B85042"/>
          </a:solidFill>
        </p:spPr>
      </p:sp>
      <p:sp>
        <p:nvSpPr>
          <p:cNvPr id="7" name="Text 5"/>
          <p:cNvSpPr/>
          <p:nvPr/>
        </p:nvSpPr>
        <p:spPr>
          <a:xfrm>
            <a:off x="914400" y="21031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514600" y="210312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92608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</p:spPr>
      </p:sp>
      <p:sp>
        <p:nvSpPr>
          <p:cNvPr id="10" name="Text 8"/>
          <p:cNvSpPr/>
          <p:nvPr/>
        </p:nvSpPr>
        <p:spPr>
          <a:xfrm>
            <a:off x="2926080" y="21031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行动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93776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B85042"/>
          </a:solidFill>
        </p:spPr>
      </p:sp>
      <p:sp>
        <p:nvSpPr>
          <p:cNvPr id="13" name="Text 11"/>
          <p:cNvSpPr/>
          <p:nvPr/>
        </p:nvSpPr>
        <p:spPr>
          <a:xfrm>
            <a:off x="4937760" y="21031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观察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7960" y="2103120"/>
            <a:ext cx="457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4748B"/>
                </a:solidFill>
              </a:rPr>
              <a:t>→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6949440" y="2103120"/>
            <a:ext cx="1645920" cy="640080"/>
          </a:xfrm>
          <a:prstGeom prst="roundRect">
            <a:avLst>
              <a:gd name="adj" fmla="val 11429"/>
            </a:avLst>
          </a:prstGeom>
          <a:solidFill>
            <a:srgbClr val="A7BEAE"/>
          </a:solidFill>
        </p:spPr>
      </p:sp>
      <p:sp>
        <p:nvSpPr>
          <p:cNvPr id="16" name="Text 14"/>
          <p:cNvSpPr/>
          <p:nvPr/>
        </p:nvSpPr>
        <p:spPr>
          <a:xfrm>
            <a:off x="6949440" y="210312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思考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3017520"/>
            <a:ext cx="8229600" cy="182880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0080" y="3154680"/>
            <a:ext cx="7863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适用场景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7863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需要外部知识检索的问答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需要计算或代码执行的推理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多步骤复杂任务（先搜索再分析再总结）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高级技巧组合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73152" cy="155448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640080" y="1325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Self-Consistency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多次采样，选择最一致的答案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73152" cy="155448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0" name="Text 8"/>
          <p:cNvSpPr/>
          <p:nvPr/>
        </p:nvSpPr>
        <p:spPr>
          <a:xfrm>
            <a:off x="4937760" y="13258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Tree of Thoughts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探索多种解题路径，综合评估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155448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Chaining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将复杂任务分解为多步 Prompt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55448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73152" cy="155448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8" name="Text 16"/>
          <p:cNvSpPr/>
          <p:nvPr/>
        </p:nvSpPr>
        <p:spPr>
          <a:xfrm>
            <a:off x="4937760" y="3154680"/>
            <a:ext cx="3657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混合策略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657600"/>
            <a:ext cx="3657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角色+Few-shot+CoT组合使用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常见陷阱与最佳实践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457200" y="11887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⚠ 常见陷阱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35661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Prompt 过长导致上下文丢失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指令相互冲突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假设模型知道未提供的信息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忽略 Temperature 参数影响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未指定输出格式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931920" cy="3474720"/>
          </a:xfrm>
          <a:prstGeom prst="rect">
            <a:avLst/>
          </a:prstGeom>
          <a:solidFill>
            <a:srgbClr val="FFFFFF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solidFill>
            <a:srgbClr val="2C5F2D"/>
          </a:solidFill>
        </p:spPr>
      </p:sp>
      <p:sp>
        <p:nvSpPr>
          <p:cNvPr id="10" name="Text 8"/>
          <p:cNvSpPr/>
          <p:nvPr/>
        </p:nvSpPr>
        <p:spPr>
          <a:xfrm>
            <a:off x="4754880" y="1188720"/>
            <a:ext cx="39319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✓ 最佳实践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783080"/>
            <a:ext cx="3566160" cy="2743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结构清晰，使用分隔符区分内容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具体明确，避免模糊词汇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示例驱动，覆盖边界情况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复杂问题使用 CoT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明确错误处理方式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教学场景化案例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7BEA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Teaching Scenarios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463040"/>
          </a:xfrm>
          <a:prstGeom prst="rect">
            <a:avLst/>
          </a:prstGeom>
          <a:solidFill>
            <a:srgbClr val="2A3A5E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6" name="Text 4"/>
          <p:cNvSpPr/>
          <p:nvPr/>
        </p:nvSpPr>
        <p:spPr>
          <a:xfrm>
            <a:off x="457200" y="12801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智能代码审查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828800"/>
            <a:ext cx="3657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安全检查、性能分析、代码规范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280160"/>
            <a:ext cx="4023360" cy="1463040"/>
          </a:xfrm>
          <a:prstGeom prst="rect">
            <a:avLst/>
          </a:prstGeom>
          <a:solidFill>
            <a:srgbClr val="2A3A5E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0" name="Text 8"/>
          <p:cNvSpPr/>
          <p:nvPr/>
        </p:nvSpPr>
        <p:spPr>
          <a:xfrm>
            <a:off x="4754880" y="128016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NL2SQL 生成器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828800"/>
            <a:ext cx="3657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自然语言转 SQL 查询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4023360" cy="1463040"/>
          </a:xfrm>
          <a:prstGeom prst="rect">
            <a:avLst/>
          </a:prstGeom>
          <a:solidFill>
            <a:srgbClr val="2A3A5E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solidFill>
            <a:srgbClr val="B85042"/>
          </a:solidFill>
        </p:spPr>
      </p:sp>
      <p:sp>
        <p:nvSpPr>
          <p:cNvPr id="14" name="Text 12"/>
          <p:cNvSpPr/>
          <p:nvPr/>
        </p:nvSpPr>
        <p:spPr>
          <a:xfrm>
            <a:off x="457200" y="30175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算法可视化解释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566160"/>
            <a:ext cx="3657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排序算法分步图解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023360" cy="1463040"/>
          </a:xfrm>
          <a:prstGeom prst="rect">
            <a:avLst/>
          </a:prstGeom>
          <a:solidFill>
            <a:srgbClr val="2A3A5E"/>
          </a:solidFill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023360" cy="457200"/>
          </a:xfrm>
          <a:prstGeom prst="rect">
            <a:avLst/>
          </a:prstGeom>
          <a:solidFill>
            <a:srgbClr val="A7BEAE"/>
          </a:solidFill>
        </p:spPr>
      </p:sp>
      <p:sp>
        <p:nvSpPr>
          <p:cNvPr id="18" name="Text 16"/>
          <p:cNvSpPr/>
          <p:nvPr/>
        </p:nvSpPr>
        <p:spPr>
          <a:xfrm>
            <a:off x="4754880" y="3017520"/>
            <a:ext cx="40233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Bug 诊断专家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566160"/>
            <a:ext cx="36576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错误分析与修复建议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覆盖软件学院数据结构、算法、Web 开发等核心课程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总结</a:t>
            </a:r>
            <a:endParaRPr lang="en-US" sz="3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926080"/>
          </a:xfrm>
          <a:prstGeom prst="rect">
            <a:avLst/>
          </a:prstGeom>
          <a:solidFill>
            <a:srgbClr val="8B3A2F"/>
          </a:solidFill>
        </p:spPr>
      </p:sp>
      <p:sp>
        <p:nvSpPr>
          <p:cNvPr id="4" name="Text 2"/>
          <p:cNvSpPr/>
          <p:nvPr/>
        </p:nvSpPr>
        <p:spPr>
          <a:xfrm>
            <a:off x="640080" y="1371600"/>
            <a:ext cx="786384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提示工程是 AI 应用开发的核心技能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角色设定、Few-Shot、CoT 是三大基础技巧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ReAct 让模型能够主动调用工具解决问题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高级技巧可组合使用应对复杂场景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最佳实践 + 教学案例帮助学生快速上手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7E8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三门课程联动：Prompt → Context → </a:t>
            </a:r>
            <a:r>
              <a:rPr lang="en-US" sz="1600" dirty="0">
                <a:solidFill>
                  <a:srgbClr val="E7E8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Harness</a:t>
            </a:r>
            <a:endParaRPr lang="en-US" sz="1600" dirty="0">
              <a:solidFill>
                <a:srgbClr val="E7E8D1"/>
              </a:solidFill>
              <a:latin typeface="微软雅黑" pitchFamily="34" charset="0"/>
              <a:ea typeface="微软雅黑" pitchFamily="34" charset="-122"/>
              <a:cs typeface="微软雅黑" pitchFamily="34" charset="-12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850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Q&amp;A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E7E8D1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问答环节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0" y="4114800"/>
            <a:ext cx="1828800" cy="73152"/>
          </a:xfrm>
          <a:prstGeom prst="rect">
            <a:avLst/>
          </a:prstGeom>
          <a:solidFill>
            <a:srgbClr val="E7E8D1"/>
          </a:solid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WPS 表格</Application>
  <PresentationFormat>On-screen Show (16:9)</PresentationFormat>
  <Paragraphs>230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</vt:lpstr>
      <vt:lpstr>微软雅黑</vt:lpstr>
      <vt:lpstr>微软雅黑</vt:lpstr>
      <vt:lpstr>Arial</vt:lpstr>
      <vt:lpstr>Arial</vt:lpstr>
      <vt:lpstr>Consolas</vt:lpstr>
      <vt:lpstr>Consolas</vt:lpstr>
      <vt:lpstr>Consolas</vt:lpstr>
      <vt:lpstr>Calibri</vt:lpstr>
      <vt:lpstr>Helvetica Neue</vt:lpstr>
      <vt:lpstr>宋体</vt:lpstr>
      <vt:lpstr>Arial Unicode MS</vt:lpstr>
      <vt:lpstr>等线</vt:lpstr>
      <vt:lpstr>汉仪中等线KW</vt:lpstr>
      <vt:lpstr>汉仪书宋二KW</vt:lpstr>
      <vt:lpstr>苹方-简</vt:lpstr>
      <vt:lpstr>Apple Color Emoji</vt:lpstr>
      <vt:lpstr>儷宋 Pro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提示工程 Prompt Engineering</dc:title>
  <dc:creator>AI Course</dc:creator>
  <dc:subject>PptxGenJS Presentation</dc:subject>
  <cp:lastModifiedBy>angusfan</cp:lastModifiedBy>
  <cp:revision>2</cp:revision>
  <dcterms:created xsi:type="dcterms:W3CDTF">2026-05-11T07:33:13Z</dcterms:created>
  <dcterms:modified xsi:type="dcterms:W3CDTF">2026-05-11T07:33:13Z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ED927EED584CB7933986016ABBB34949_42</vt:lpwstr>
  </property>
  <property fmtid="{D5CDD505-2E9C-101B-9397-08002B2CF9AE}" pid="3" name="KSOProductBuildVer">
    <vt:lpwstr>2052-12.1.25205.25205</vt:lpwstr>
  </property>
</Properties>
</file>